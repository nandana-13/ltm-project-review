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94" r:id="rId5"/>
    <p:sldId id="2147470495" r:id="rId6"/>
    <p:sldId id="2147470496" r:id="rId7"/>
    <p:sldId id="2147470497" r:id="rId8"/>
    <p:sldId id="2147470491" r:id="rId9"/>
    <p:sldId id="214747048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2503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ClrTx/>
              <a:buSzTx/>
              <a:buFontTx/>
              <a:buNone/>
              <a:tabLst/>
              <a:defRPr sz="3000" b="1">
                <a:latin typeface="Calibri"/>
              </a:defRPr>
            </a:pPr>
            <a:r>
              <a:rPr sz="3600" dirty="0">
                <a:solidFill>
                  <a:schemeClr val="bg1"/>
                </a:solidFill>
              </a:rPr>
              <a:t>Agentic AI-Based Construction Schedule Disruption Analysis and Recovery Planning System</a:t>
            </a:r>
          </a:p>
          <a:p>
            <a:pPr algn="ctr">
              <a:defRPr sz="2200">
                <a:latin typeface="Calibri"/>
              </a:defRPr>
            </a:pPr>
            <a:endParaRPr lang="en-IN" dirty="0"/>
          </a:p>
          <a:p>
            <a:pPr algn="ctr">
              <a:defRPr sz="2200">
                <a:latin typeface="Calibri"/>
              </a:defRPr>
            </a:pPr>
            <a:endParaRPr lang="en-IN" dirty="0"/>
          </a:p>
          <a:p>
            <a:pPr algn="ctr">
              <a:defRPr sz="2200">
                <a:latin typeface="Calibri"/>
              </a:defRPr>
            </a:pPr>
            <a:r>
              <a:rPr sz="2400" b="1" dirty="0">
                <a:solidFill>
                  <a:schemeClr val="bg1"/>
                </a:solidFill>
              </a:rPr>
              <a:t>Nandana Jayan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>
              <a:lnSpc>
                <a:spcPct val="150000"/>
              </a:lnSpc>
              <a:spcAft>
                <a:spcPts val="1000"/>
              </a:spcAft>
              <a:defRPr sz="2200">
                <a:latin typeface="Calibri"/>
              </a:defRPr>
            </a:pPr>
            <a:r>
              <a:rPr dirty="0"/>
              <a:t>Analyzes construction schedule disruptions such as activity delays and resource shortages.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spcAft>
                <a:spcPts val="1000"/>
              </a:spcAft>
              <a:defRPr sz="2200">
                <a:latin typeface="Calibri"/>
              </a:defRPr>
            </a:pPr>
            <a:r>
              <a:rPr dirty="0"/>
              <a:t>Identifies affected activities and determines their impact on the overall project completion.</a:t>
            </a:r>
          </a:p>
          <a:p>
            <a:pPr>
              <a:spcAft>
                <a:spcPts val="1000"/>
              </a:spcAft>
              <a:defRPr sz="2200">
                <a:latin typeface="Calibri"/>
              </a:defRPr>
            </a:pPr>
            <a:r>
              <a:rPr dirty="0"/>
              <a:t>Generates and optimizes recovery strategies using Agentic AI and OR-Tools.</a:t>
            </a:r>
          </a:p>
          <a:p>
            <a:pPr>
              <a:spcAft>
                <a:spcPts val="1000"/>
              </a:spcAft>
              <a:defRPr sz="2200">
                <a:latin typeface="Calibri"/>
              </a:defRPr>
            </a:pPr>
            <a:r>
              <a:rPr dirty="0"/>
              <a:t>Recommends the best recovery plan and provides an understandable explanation using an LLM.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latin typeface="Calibri"/>
              </a:defRPr>
            </a:pPr>
            <a: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4792133" y="57036"/>
            <a:ext cx="739986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500"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Agentic AI-Based Construction Schedule Disruption Analysis and Recovery Planning System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>
              <a:lnSpc>
                <a:spcPct val="150000"/>
              </a:lnSpc>
              <a:spcAft>
                <a:spcPts val="1000"/>
              </a:spcAft>
              <a:defRPr sz="2200">
                <a:latin typeface="Calibri"/>
              </a:defRPr>
            </a:pPr>
            <a:r>
              <a:rPr dirty="0"/>
              <a:t>Detect and analyze the impact of construction schedule disruptions on project activities.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spcAft>
                <a:spcPts val="1000"/>
              </a:spcAft>
              <a:defRPr sz="2200">
                <a:latin typeface="Calibri"/>
              </a:defRPr>
            </a:pPr>
            <a:r>
              <a:rPr dirty="0"/>
              <a:t>Identify affected activities and dependencies to determine potential project delays.</a:t>
            </a:r>
          </a:p>
          <a:p>
            <a:pPr>
              <a:spcAft>
                <a:spcPts val="1000"/>
              </a:spcAft>
              <a:defRPr sz="2200">
                <a:latin typeface="Calibri"/>
              </a:defRPr>
            </a:pPr>
            <a:r>
              <a:rPr dirty="0"/>
              <a:t>Generate and optimize recovery strategies considering time, resources, and scheduling constraints.</a:t>
            </a:r>
          </a:p>
          <a:p>
            <a:pPr>
              <a:spcAft>
                <a:spcPts val="1000"/>
              </a:spcAft>
              <a:defRPr sz="2200">
                <a:latin typeface="Calibri"/>
              </a:defRPr>
            </a:pPr>
            <a:r>
              <a:rPr dirty="0"/>
              <a:t>Recommend the most suitable recovery plan with an explainable, evidence-based justification.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latin typeface="Calibri"/>
              </a:defRPr>
            </a:pPr>
            <a:r>
              <a:t>Objectives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4902201" y="57036"/>
            <a:ext cx="72898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500"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Agentic AI-Based Construction Schedule Disruption Analysis and Recovery Planning System</a:t>
            </a: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>
              <a:lnSpc>
                <a:spcPct val="150000"/>
              </a:lnSpc>
              <a:spcAft>
                <a:spcPts val="1000"/>
              </a:spcAft>
              <a:defRPr sz="2200">
                <a:latin typeface="Calibri"/>
              </a:defRPr>
            </a:pPr>
            <a:r>
              <a:rPr dirty="0"/>
              <a:t>Covers construction project schedule analysis using activities, durations, dependencies, and resource constraints.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spcAft>
                <a:spcPts val="1000"/>
              </a:spcAft>
              <a:defRPr sz="2200">
                <a:latin typeface="Calibri"/>
              </a:defRPr>
            </a:pPr>
            <a:r>
              <a:rPr dirty="0"/>
              <a:t>Handles disruptions such as activity delays and resource shortages and identifies their impact on downstream activities.</a:t>
            </a:r>
          </a:p>
          <a:p>
            <a:pPr>
              <a:spcAft>
                <a:spcPts val="1000"/>
              </a:spcAft>
              <a:defRPr sz="2200">
                <a:latin typeface="Calibri"/>
              </a:defRPr>
            </a:pPr>
            <a:r>
              <a:rPr dirty="0"/>
              <a:t>Generates and evaluates alternative recovery strategies using constraint-based optimization.</a:t>
            </a:r>
          </a:p>
          <a:p>
            <a:pPr>
              <a:spcAft>
                <a:spcPts val="1000"/>
              </a:spcAft>
              <a:defRPr sz="2200">
                <a:latin typeface="Calibri"/>
              </a:defRPr>
            </a:pPr>
            <a:r>
              <a:rPr dirty="0"/>
              <a:t>Provides an explainable recovery recommendation through an Agentic AI workflow and LLM-based explanation.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latin typeface="Calibri"/>
              </a:defRPr>
            </a:pPr>
            <a: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4504267" y="57036"/>
            <a:ext cx="768773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500"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Agentic AI-Based Construction Schedule Disruption Analysis and Recovery Planning System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433ECB-8EAD-0AB5-1D66-62BCF658A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>
              <a:lnSpc>
                <a:spcPct val="150000"/>
              </a:lnSpc>
              <a:spcAft>
                <a:spcPts val="1000"/>
              </a:spcAft>
              <a:defRPr sz="2200">
                <a:latin typeface="Calibri"/>
              </a:defRPr>
            </a:pPr>
            <a:r>
              <a:t>Resource-Constrained Project Scheduling Problem (RCPSP) research addresses scheduling activities under precedence and limited-resource constraints.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spcAft>
                <a:spcPts val="1000"/>
              </a:spcAft>
              <a:defRPr sz="2200">
                <a:latin typeface="Calibri"/>
              </a:defRPr>
            </a:pPr>
            <a:r>
              <a:rPr dirty="0"/>
              <a:t>Construction scheduling research applies resource-constrained scheduling to model complex activity dependencies and resource limitations.</a:t>
            </a:r>
          </a:p>
          <a:p>
            <a:pPr>
              <a:spcAft>
                <a:spcPts val="1000"/>
              </a:spcAft>
              <a:defRPr sz="2200">
                <a:latin typeface="Calibri"/>
              </a:defRPr>
            </a:pPr>
            <a:r>
              <a:rPr dirty="0"/>
              <a:t>Existing delay-analysis approaches study the effect of disruptions on project schedules, but dynamic schedule recovery remains challenging.</a:t>
            </a:r>
          </a:p>
          <a:p>
            <a:pPr>
              <a:spcAft>
                <a:spcPts val="1000"/>
              </a:spcAft>
              <a:defRPr sz="2200">
                <a:latin typeface="Calibri"/>
              </a:defRPr>
            </a:pPr>
            <a:r>
              <a:rPr dirty="0"/>
              <a:t>Recent AI-based approaches combine prediction, simulation, and optimization for schedule resilience and recovery, with challenges in interpretability and practical integration.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latin typeface="Calibri"/>
              </a:defRPr>
            </a:pPr>
            <a: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4F4041-8131-3536-FDDF-513CA3ABA637}"/>
              </a:ext>
            </a:extLst>
          </p:cNvPr>
          <p:cNvSpPr txBox="1"/>
          <p:nvPr/>
        </p:nvSpPr>
        <p:spPr>
          <a:xfrm>
            <a:off x="4741333" y="57036"/>
            <a:ext cx="745066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500"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Agentic AI-Based Construction Schedule Disruption Analysis and Recovery Planning System</a:t>
            </a:r>
          </a:p>
        </p:txBody>
      </p:sp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64AF3A-1BAA-BB19-865F-8604C4E3B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>
              <a:lnSpc>
                <a:spcPct val="150000"/>
              </a:lnSpc>
              <a:spcAft>
                <a:spcPts val="1000"/>
              </a:spcAft>
              <a:defRPr sz="2200">
                <a:latin typeface="Calibri"/>
              </a:defRPr>
            </a:pPr>
            <a:r>
              <a:rPr dirty="0"/>
              <a:t>Existing research provides established methods for project scheduling, resource allocation, delay analysis, and schedule optimization.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spcAft>
                <a:spcPts val="1000"/>
              </a:spcAft>
              <a:defRPr sz="2200">
                <a:latin typeface="Calibri"/>
              </a:defRPr>
            </a:pPr>
            <a:r>
              <a:rPr dirty="0"/>
              <a:t>Most approaches focus on optimizing a schedule or analyzing delays rather than providing an integrated recovery decision-support workflow.</a:t>
            </a:r>
          </a:p>
          <a:p>
            <a:pPr>
              <a:spcAft>
                <a:spcPts val="1000"/>
              </a:spcAft>
              <a:defRPr sz="2200">
                <a:latin typeface="Calibri"/>
              </a:defRPr>
            </a:pPr>
            <a:r>
              <a:rPr dirty="0"/>
              <a:t>There is an opportunity to combine disruption impact analysis, automated recovery-plan generation, constraint-based optimization, and explainable AI.</a:t>
            </a:r>
          </a:p>
          <a:p>
            <a:pPr>
              <a:spcAft>
                <a:spcPts val="1000"/>
              </a:spcAft>
              <a:defRPr sz="2200">
                <a:latin typeface="Calibri"/>
              </a:defRPr>
            </a:pPr>
            <a:r>
              <a:rPr dirty="0"/>
              <a:t>The proposed system follows: Disruption → Impact Analysis → Recovery Options → OR-Tools Optimization → Best Plan → LLM Explanation.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latin typeface="Calibri"/>
              </a:defRPr>
            </a:pPr>
            <a:r>
              <a:t>Summary of Literature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ADF6DB-6CFE-DDC5-997C-E84EE1A9470D}"/>
              </a:ext>
            </a:extLst>
          </p:cNvPr>
          <p:cNvSpPr txBox="1"/>
          <p:nvPr/>
        </p:nvSpPr>
        <p:spPr>
          <a:xfrm>
            <a:off x="4893734" y="0"/>
            <a:ext cx="730037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500"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Agentic AI-Based Construction Schedule Disruption Analysis and Recovery Planning System</a:t>
            </a:r>
          </a:p>
        </p:txBody>
      </p:sp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>
              <a:lnSpc>
                <a:spcPct val="150000"/>
              </a:lnSpc>
              <a:spcAft>
                <a:spcPts val="1000"/>
              </a:spcAft>
              <a:defRPr sz="2200">
                <a:latin typeface="Calibri"/>
              </a:defRPr>
            </a:pPr>
            <a:r>
              <a:rPr dirty="0"/>
              <a:t>Dataset &amp; Scenarios: Uses PSPLIB J30 scheduling data with controlled construction-style disruptions such as activity delays and resource shortages.</a:t>
            </a:r>
            <a:endParaRPr lang="en-US" sz="2400" b="0" dirty="0">
              <a:solidFill>
                <a:srgbClr val="5583D1"/>
              </a:solidFill>
            </a:endParaRPr>
          </a:p>
          <a:p>
            <a:pPr>
              <a:spcAft>
                <a:spcPts val="1000"/>
              </a:spcAft>
              <a:defRPr sz="2200">
                <a:latin typeface="Calibri"/>
              </a:defRPr>
            </a:pPr>
            <a:r>
              <a:rPr dirty="0"/>
              <a:t>Impact &amp; Recovery: Identifies affected activities and generates multiple feasible recovery strategies based on dependencies and resource constraints.</a:t>
            </a:r>
          </a:p>
          <a:p>
            <a:pPr>
              <a:spcAft>
                <a:spcPts val="1000"/>
              </a:spcAft>
              <a:defRPr sz="2200">
                <a:latin typeface="Calibri"/>
              </a:defRPr>
            </a:pPr>
            <a:r>
              <a:rPr dirty="0"/>
              <a:t>Agentic Optimization: Uses </a:t>
            </a:r>
            <a:r>
              <a:rPr dirty="0" err="1"/>
              <a:t>LangGraph</a:t>
            </a:r>
            <a:r>
              <a:rPr dirty="0"/>
              <a:t> to coordinate the workflow and OR-Tools to evaluate and optimize alternative recovery schedules.</a:t>
            </a:r>
          </a:p>
          <a:p>
            <a:pPr>
              <a:spcAft>
                <a:spcPts val="1000"/>
              </a:spcAft>
              <a:defRPr sz="2200">
                <a:latin typeface="Calibri"/>
              </a:defRPr>
            </a:pPr>
            <a:r>
              <a:rPr dirty="0"/>
              <a:t>Explainable Decision Support: Uses an LLM to explain the recommended recovery plan for project managers and planners.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latin typeface="Calibri"/>
              </a:defRPr>
            </a:pPr>
            <a:r>
              <a:t>Additional Information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500">
                <a:latin typeface="Calibri"/>
              </a:defRPr>
            </a:pPr>
            <a:r>
              <a:t>Agentic AI-Based Construction Schedule Disruption Analysis and Recovery Planning System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/>
          <a:lstStyle/>
          <a:p>
            <a:pPr marL="457200" indent="-457200">
              <a:lnSpc>
                <a:spcPct val="150000"/>
              </a:lnSpc>
              <a:spcAft>
                <a:spcPts val="400"/>
              </a:spcAft>
              <a:buFont typeface="+mj-lt"/>
              <a:buAutoNum type="arabicPeriod"/>
              <a:defRPr sz="2500" b="1">
                <a:latin typeface="Calibri"/>
              </a:defRPr>
            </a:pPr>
            <a:r>
              <a:rPr dirty="0"/>
              <a:t> Schedule Data Management</a:t>
            </a:r>
          </a:p>
          <a:p>
            <a:pPr>
              <a:spcAft>
                <a:spcPts val="2000"/>
              </a:spcAft>
              <a:defRPr sz="2100">
                <a:latin typeface="Calibri"/>
              </a:defRPr>
            </a:pPr>
            <a:r>
              <a:rPr b="0" dirty="0">
                <a:solidFill>
                  <a:schemeClr val="tx1"/>
                </a:solidFill>
              </a:rPr>
              <a:t>Handles the upload, parsing, validation, and preprocessing of construction schedule data, including activities, durations, dependencies, and resources.</a:t>
            </a:r>
          </a:p>
          <a:p>
            <a:pPr marL="0" indent="0">
              <a:spcAft>
                <a:spcPts val="400"/>
              </a:spcAft>
              <a:buNone/>
              <a:defRPr sz="2500" b="1">
                <a:latin typeface="Calibri"/>
              </a:defRPr>
            </a:pPr>
            <a:r>
              <a:rPr dirty="0"/>
              <a:t>2.   Disruption Impact Analysis</a:t>
            </a:r>
          </a:p>
          <a:p>
            <a:pPr>
              <a:spcAft>
                <a:spcPts val="2000"/>
              </a:spcAft>
              <a:defRPr sz="2100">
                <a:latin typeface="Calibri"/>
              </a:defRPr>
            </a:pPr>
            <a:r>
              <a:rPr b="0" dirty="0">
                <a:solidFill>
                  <a:schemeClr val="tx1"/>
                </a:solidFill>
              </a:rPr>
              <a:t>Identifies schedule disruptions and analyzes their impact on affected activities and overall project completion.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latin typeface="Calibri"/>
              </a:defRPr>
            </a:pPr>
            <a: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500">
                <a:latin typeface="Calibri"/>
              </a:defRPr>
            </a:pPr>
            <a:r>
              <a:t>Agentic AI-Based Construction Schedule Disruption Analysis and Recovery Planning System</a:t>
            </a:r>
          </a:p>
        </p:txBody>
      </p:sp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pPr marL="0" indent="0">
              <a:spcAft>
                <a:spcPts val="400"/>
              </a:spcAft>
              <a:buNone/>
              <a:defRPr sz="2500" b="1">
                <a:latin typeface="Calibri"/>
              </a:defRPr>
            </a:pPr>
            <a:r>
              <a:rPr dirty="0"/>
              <a:t>3. Recovery Plan Generation &amp; Optimization</a:t>
            </a:r>
          </a:p>
          <a:p>
            <a:pPr>
              <a:spcAft>
                <a:spcPts val="2000"/>
              </a:spcAft>
              <a:defRPr sz="2100">
                <a:latin typeface="Calibri"/>
              </a:defRPr>
            </a:pPr>
            <a:r>
              <a:rPr b="0" dirty="0">
                <a:solidFill>
                  <a:schemeClr val="tx1"/>
                </a:solidFill>
              </a:rPr>
              <a:t>Generates alternative recovery strategies and uses OR-Tools to find feasible and optimized recovery schedules.</a:t>
            </a:r>
          </a:p>
          <a:p>
            <a:pPr marL="0" indent="0">
              <a:spcAft>
                <a:spcPts val="400"/>
              </a:spcAft>
              <a:buNone/>
              <a:defRPr sz="2500" b="1">
                <a:latin typeface="Calibri"/>
              </a:defRPr>
            </a:pPr>
            <a:r>
              <a:rPr dirty="0"/>
              <a:t>4. Agentic AI Recommendation &amp; Explanation</a:t>
            </a:r>
          </a:p>
          <a:p>
            <a:pPr>
              <a:spcAft>
                <a:spcPts val="2000"/>
              </a:spcAft>
              <a:defRPr sz="2100">
                <a:latin typeface="Calibri"/>
              </a:defRPr>
            </a:pPr>
            <a:r>
              <a:rPr b="0" dirty="0">
                <a:solidFill>
                  <a:schemeClr val="tx1"/>
                </a:solidFill>
              </a:rPr>
              <a:t>Uses </a:t>
            </a:r>
            <a:r>
              <a:rPr b="0" dirty="0" err="1">
                <a:solidFill>
                  <a:schemeClr val="tx1"/>
                </a:solidFill>
              </a:rPr>
              <a:t>LangGraph</a:t>
            </a:r>
            <a:r>
              <a:rPr b="0" dirty="0">
                <a:solidFill>
                  <a:schemeClr val="tx1"/>
                </a:solidFill>
              </a:rPr>
              <a:t> and an LLM to coordinate the workflow, recommend the best recovery plan, and explain the decision.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 sz="3000" b="1">
                <a:latin typeface="Calibri"/>
              </a:defRPr>
            </a:pPr>
            <a:r>
              <a:t>Modules to Cover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500">
                <a:latin typeface="Calibri"/>
              </a:defRPr>
            </a:pPr>
            <a:r>
              <a:t>Agentic AI-Based Construction Schedule Disruption Analysis and Recovery Planning System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619</Words>
  <Application>Microsoft Office PowerPoint</Application>
  <PresentationFormat>Widescreen</PresentationFormat>
  <Paragraphs>61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nandana jayan</cp:lastModifiedBy>
  <cp:revision>11</cp:revision>
  <dcterms:created xsi:type="dcterms:W3CDTF">2024-05-13T10:33:11Z</dcterms:created>
  <dcterms:modified xsi:type="dcterms:W3CDTF">2026-09-06T17:50:29Z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