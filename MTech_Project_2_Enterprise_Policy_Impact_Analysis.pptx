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98" r:id="rId10"/>
    <p:sldId id="214747048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252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rPr sz="3600"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  <a:p>
            <a:pPr algn="ctr">
              <a:defRPr sz="2200">
                <a:latin typeface="Calibri"/>
              </a:defRPr>
            </a:pPr>
            <a:endParaRPr lang="en-IN" dirty="0"/>
          </a:p>
          <a:p>
            <a:pPr algn="ctr">
              <a:defRPr sz="2200">
                <a:latin typeface="Calibri"/>
              </a:defRPr>
            </a:pPr>
            <a:endParaRPr lang="en-IN" dirty="0"/>
          </a:p>
          <a:p>
            <a:pPr algn="ctr">
              <a:defRPr sz="2200">
                <a:latin typeface="Calibri"/>
              </a:defRPr>
            </a:pPr>
            <a:r>
              <a:rPr sz="2400" b="1" dirty="0">
                <a:solidFill>
                  <a:schemeClr val="bg1"/>
                </a:solidFill>
              </a:rPr>
              <a:t>Nandana Jayan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Enterprise policies are frequently updated, creating changes that can affect related policies, rules, and procedures.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The proposed system automatically detects changes between policy versions and identifies potentially affected clauses and policies.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A </a:t>
            </a:r>
            <a:r>
              <a:rPr dirty="0" err="1"/>
              <a:t>PolicyGraph</a:t>
            </a:r>
            <a:r>
              <a:rPr dirty="0"/>
              <a:t> is used to trace relationships and propagate the impact of a policy change across connected documents.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RAG retrieves supporting policy evidence, while an LLM generates an evidence-grounded explanation of the identified impacts.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Detect and classify meaningful changes between different versions of enterprise policy documents.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Identify affected policies and clauses by analyzing explicit and semantic relationships between policy content.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Rank potential impacts using relevance and confidence scores supported by graph-based propagation and evidence retrieval.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Generate explainable, evidence-grounded impact analysis to support compliance, governance, and policy-management decisions.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Covers enterprise policy documents, their versions, clauses, cross-references, and related procedural content.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Supports change types such as added, removed, and modified clauses and traces their potential downstream impact.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Combines </a:t>
            </a:r>
            <a:r>
              <a:rPr dirty="0" err="1"/>
              <a:t>PolicyGraph</a:t>
            </a:r>
            <a:r>
              <a:rPr dirty="0"/>
              <a:t>-based relationship analysis with RAG-based evidence retrieval for impact assessment.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Provides ranked impact results, supporting evidence, confidence scores, and LLM-generated explanations through a web interface.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t>Traditional policy and document analysis approaches rely heavily on manual comparison and keyword-based retrieval, which can miss indirect relationships.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RAG-based methods improve document question answering by retrieving relevant evidence before generating responses, but standard RAG may not explicitly model policy relationships.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Graph-based and Graph RAG approaches represent relationships between documents or passages, improving multi-hop retrieval and cross-reference tracing.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Recent research highlights the need for explainability and reliable evidence grounding in high-stakes enterprise and regulatory applications.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Existing approaches provide strong capabilities for document retrieval, semantic search, and graph-based knowledge representation.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However, they generally focus on retrieval or question answering rather than systematic propagation of policy-version changes to affected policies.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A research gap exists in combining change detection, relationship-aware impact propagation, evidence retrieval, confidence scoring, and explainable generation in one framework.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The proposed framework addresses this gap through: Change Detection → </a:t>
            </a:r>
            <a:r>
              <a:rPr dirty="0" err="1"/>
              <a:t>PolicyGraph</a:t>
            </a:r>
            <a:r>
              <a:rPr dirty="0"/>
              <a:t> → Impact Propagation → RAG Evidence → Impact Ranking → LLM Explanation.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Dataset: </a:t>
            </a:r>
            <a:r>
              <a:rPr dirty="0" err="1"/>
              <a:t>ObliQA</a:t>
            </a:r>
            <a:r>
              <a:rPr dirty="0"/>
              <a:t> structured ADGM regulatory documents, augmented with controlled policy-version changes and impact annotations.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Core technologies: React, Python, </a:t>
            </a:r>
            <a:r>
              <a:rPr dirty="0" err="1"/>
              <a:t>FastAPI</a:t>
            </a:r>
            <a:r>
              <a:rPr dirty="0"/>
              <a:t>, </a:t>
            </a:r>
            <a:r>
              <a:rPr dirty="0" err="1"/>
              <a:t>LangChain</a:t>
            </a:r>
            <a:r>
              <a:rPr dirty="0"/>
              <a:t>, LLM, Sentence Transformers, FAISS, </a:t>
            </a:r>
            <a:r>
              <a:rPr dirty="0" err="1"/>
              <a:t>NetworkX</a:t>
            </a:r>
            <a:r>
              <a:rPr dirty="0"/>
              <a:t>, PostgreSQL, and Docker.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Evaluation can compare traditional RAG, Graph RAG, and the proposed impact-propagation approach using retrieval, impact-detection, evidence, and explanation metrics.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Target users include compliance officers, policy analysts, risk managers, and governance teams who need traceable and explainable policy-impact insights.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457200" indent="-457200">
              <a:lnSpc>
                <a:spcPct val="105000"/>
              </a:lnSpc>
              <a:spcAft>
                <a:spcPts val="1000"/>
              </a:spcAft>
              <a:buFont typeface="+mj-lt"/>
              <a:buAutoNum type="arabicPeriod"/>
              <a:defRPr sz="2300">
                <a:latin typeface="Calibri"/>
              </a:defRPr>
            </a:pPr>
            <a:r>
              <a:rPr dirty="0"/>
              <a:t>Module 1 – Policy Data &amp; Version Management</a:t>
            </a:r>
          </a:p>
          <a:p>
            <a:pPr marL="0" indent="0">
              <a:spcAft>
                <a:spcPts val="1000"/>
              </a:spcAft>
              <a:buNone/>
              <a:defRPr sz="2300">
                <a:latin typeface="Calibri"/>
              </a:defRPr>
            </a:pPr>
            <a:r>
              <a:rPr lang="en-IN" sz="2300" dirty="0">
                <a:latin typeface="Calibri"/>
              </a:rPr>
              <a:t>       </a:t>
            </a:r>
            <a:r>
              <a:rPr lang="en-IN" sz="2300" b="0" dirty="0">
                <a:solidFill>
                  <a:schemeClr val="tx1"/>
                </a:solidFill>
                <a:latin typeface="Calibri"/>
              </a:rPr>
              <a:t>Manages policy documents, versions, clauses, and metadata for analysis.</a:t>
            </a:r>
            <a:endParaRPr b="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05000"/>
              </a:lnSpc>
              <a:spcAft>
                <a:spcPts val="1000"/>
              </a:spcAft>
              <a:buAutoNum type="arabicPeriod" startAt="2"/>
              <a:defRPr sz="2300">
                <a:latin typeface="Calibri"/>
              </a:defRPr>
            </a:pPr>
            <a:r>
              <a:rPr dirty="0"/>
              <a:t>Module 2 – Change Detection &amp; Impact Propagation</a:t>
            </a:r>
          </a:p>
          <a:p>
            <a:pPr marL="0" indent="0">
              <a:spcAft>
                <a:spcPts val="1000"/>
              </a:spcAft>
              <a:buNone/>
              <a:defRPr sz="2300">
                <a:latin typeface="Calibri"/>
              </a:defRPr>
            </a:pPr>
            <a:r>
              <a:rPr lang="en-US" dirty="0"/>
              <a:t>     </a:t>
            </a:r>
            <a:r>
              <a:rPr lang="en-IN" sz="2300" b="0" dirty="0">
                <a:solidFill>
                  <a:schemeClr val="tx1"/>
                </a:solidFill>
                <a:latin typeface="Calibri"/>
              </a:rPr>
              <a:t>Detects changes between policy versions and traces their potential impact through   related policies and clauses.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DE8DE-4574-AA4A-58FF-37A201C3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4CE304-E210-343A-FB3B-2D3B33A472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457200" indent="-457200">
              <a:lnSpc>
                <a:spcPct val="105000"/>
              </a:lnSpc>
              <a:spcAft>
                <a:spcPts val="1000"/>
              </a:spcAft>
              <a:buAutoNum type="arabicPeriod" startAt="3"/>
              <a:defRPr sz="2300">
                <a:latin typeface="Calibri"/>
              </a:defRPr>
            </a:pPr>
            <a:r>
              <a:rPr lang="en-IN" dirty="0"/>
              <a:t>Module 3 – Evidence Retrieval </a:t>
            </a:r>
          </a:p>
          <a:p>
            <a:pPr marL="0" indent="0">
              <a:spcAft>
                <a:spcPts val="1000"/>
              </a:spcAft>
              <a:buNone/>
              <a:defRPr sz="2300">
                <a:latin typeface="Calibri"/>
              </a:defRPr>
            </a:pPr>
            <a:r>
              <a:rPr lang="en-IN" dirty="0"/>
              <a:t>       </a:t>
            </a:r>
            <a:r>
              <a:rPr lang="en-IN" sz="2300" b="0" dirty="0">
                <a:solidFill>
                  <a:schemeClr val="tx1"/>
                </a:solidFill>
                <a:latin typeface="Calibri"/>
              </a:rPr>
              <a:t>Retrieves relevant policy passages and supporting evidence using semantic search and the PolicyGraph relationships.</a:t>
            </a:r>
            <a:endParaRPr lang="en-IN" b="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05000"/>
              </a:lnSpc>
              <a:spcAft>
                <a:spcPts val="1000"/>
              </a:spcAft>
              <a:buAutoNum type="arabicPeriod" startAt="4"/>
              <a:defRPr sz="2300">
                <a:latin typeface="Calibri"/>
              </a:defRPr>
            </a:pPr>
            <a:r>
              <a:rPr lang="en-IN" dirty="0"/>
              <a:t>Module 4 – Explainable RAG &amp; Recommendation</a:t>
            </a:r>
          </a:p>
          <a:p>
            <a:pPr marL="0" indent="0">
              <a:spcAft>
                <a:spcPts val="1000"/>
              </a:spcAft>
              <a:buNone/>
              <a:defRPr sz="2300">
                <a:latin typeface="Calibri"/>
              </a:defRPr>
            </a:pPr>
            <a:r>
              <a:rPr lang="en-IN" dirty="0"/>
              <a:t>       </a:t>
            </a:r>
            <a:r>
              <a:rPr lang="en-IN" sz="2300" b="0" dirty="0">
                <a:solidFill>
                  <a:schemeClr val="tx1"/>
                </a:solidFill>
                <a:latin typeface="Calibri"/>
              </a:rPr>
              <a:t>Uses retrieved evidence and an LLM to generate clear, evidence-grounded explanations and recommendations.</a:t>
            </a:r>
            <a:endParaRPr lang="en-IN" b="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05000"/>
              </a:lnSpc>
              <a:spcAft>
                <a:spcPts val="1000"/>
              </a:spcAft>
              <a:buFont typeface="+mj-lt"/>
              <a:buAutoNum type="arabicPeriod"/>
              <a:defRPr sz="2300">
                <a:latin typeface="Calibri"/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5EF28-921F-010D-08FC-7E9C806164B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BCFF67-3ADD-7E1D-0E20-74EADA724DE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71DC5FE-7FDB-BBBA-1003-0013B85C07E5}"/>
              </a:ext>
            </a:extLst>
          </p:cNvPr>
          <p:cNvSpPr txBox="1"/>
          <p:nvPr/>
        </p:nvSpPr>
        <p:spPr>
          <a:xfrm>
            <a:off x="6093893" y="57036"/>
            <a:ext cx="60981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324262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674" y="1148876"/>
            <a:ext cx="10624338" cy="4500000"/>
          </a:xfrm>
        </p:spPr>
        <p:txBody>
          <a:bodyPr wrap="square"/>
          <a:lstStyle/>
          <a:p>
            <a:pPr marL="0" indent="0">
              <a:spcAft>
                <a:spcPts val="400"/>
              </a:spcAft>
              <a:buNone/>
              <a:defRPr sz="2500" b="1">
                <a:latin typeface="Calibri"/>
              </a:defRPr>
            </a:pPr>
            <a:r>
              <a:rPr dirty="0"/>
              <a:t>Document &amp; Version Management</a:t>
            </a:r>
          </a:p>
          <a:p>
            <a:pPr>
              <a:spcAft>
                <a:spcPts val="1400"/>
              </a:spcAft>
              <a:defRPr sz="2100">
                <a:latin typeface="Calibri"/>
              </a:defRPr>
            </a:pPr>
            <a:r>
              <a:rPr dirty="0"/>
              <a:t>Manage policies, versions, clauses, metadata, and effective dates.</a:t>
            </a:r>
          </a:p>
          <a:p>
            <a:pPr>
              <a:spcAft>
                <a:spcPts val="400"/>
              </a:spcAft>
              <a:defRPr sz="2500" b="1">
                <a:latin typeface="Calibri"/>
              </a:defRPr>
            </a:pPr>
            <a:r>
              <a:rPr dirty="0"/>
              <a:t>Policy Parsing</a:t>
            </a:r>
          </a:p>
          <a:p>
            <a:pPr>
              <a:spcAft>
                <a:spcPts val="1400"/>
              </a:spcAft>
              <a:defRPr sz="2100">
                <a:latin typeface="Calibri"/>
              </a:defRPr>
            </a:pPr>
            <a:r>
              <a:rPr dirty="0"/>
              <a:t>Extract structured clauses and relationships from regulatory or enterprise policy documents.</a:t>
            </a:r>
          </a:p>
          <a:p>
            <a:pPr>
              <a:spcAft>
                <a:spcPts val="400"/>
              </a:spcAft>
              <a:defRPr sz="2500" b="1">
                <a:latin typeface="Calibri"/>
              </a:defRPr>
            </a:pPr>
            <a:r>
              <a:rPr dirty="0"/>
              <a:t>Version Comparison</a:t>
            </a:r>
          </a:p>
          <a:p>
            <a:pPr>
              <a:spcAft>
                <a:spcPts val="1400"/>
              </a:spcAft>
              <a:defRPr sz="2100">
                <a:latin typeface="Calibri"/>
              </a:defRPr>
            </a:pPr>
            <a:r>
              <a:rPr dirty="0"/>
              <a:t>Compare old and new versions to identify added, removed, and modified clauses.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000" b="1">
                <a:latin typeface="Calibri"/>
              </a:defRPr>
            </a:pPr>
            <a:r>
              <a:t>Module 1 – Policy Data &amp; Version Management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373674" y="1030889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t>An Explainable RAG Framework for Enterprise Policy Change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745</Words>
  <Application>Microsoft Office PowerPoint</Application>
  <PresentationFormat>Widescreen</PresentationFormat>
  <Paragraphs>69</Paragraphs>
  <Slides>10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nandana jayan</cp:lastModifiedBy>
  <cp:revision>12</cp:revision>
  <dcterms:created xsi:type="dcterms:W3CDTF">2024-05-13T10:33:11Z</dcterms:created>
  <dcterms:modified xsi:type="dcterms:W3CDTF">2026-09-06T17:50:12Z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