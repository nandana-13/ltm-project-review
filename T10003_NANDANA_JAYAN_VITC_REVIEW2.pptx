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  <p:sldId id="2147470501" r:id="rId11"/>
    <p:sldId id="2147470502" r:id="rId12"/>
    <p:sldId id="2147470503" r:id="rId13"/>
    <p:sldId id="2147470504" r:id="rId14"/>
    <p:sldId id="2147470505" r:id="rId15"/>
    <p:sldId id="2147470506" r:id="rId16"/>
    <p:sldId id="2147470507" r:id="rId17"/>
    <p:sldId id="2147470508" r:id="rId18"/>
    <p:sldId id="21474705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96372" y="1838573"/>
            <a:ext cx="11428184" cy="390876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 dirty="0">
                <a:solidFill>
                  <a:srgbClr val="FFFFFF"/>
                </a:solidFill>
                <a:latin typeface="Calibri"/>
              </a:rPr>
              <a:t>Review II
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Agentic AI-Based Construction
Schedule Recovery and Optimization
</a:t>
            </a:r>
            <a:endParaRPr lang="en-US" sz="3600" b="1" dirty="0">
              <a:solidFill>
                <a:srgbClr val="FFFFFF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2800" b="1" dirty="0">
              <a:solidFill>
                <a:srgbClr val="FFFFFF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 dirty="0">
                <a:solidFill>
                  <a:srgbClr val="FFFFFF"/>
                </a:solidFill>
                <a:latin typeface="Calibri"/>
              </a:rPr>
              <a:t>
Nandana Jayan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612784" y="3878098"/>
            <a:ext cx="8595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 dirty="0" err="1">
                <a:solidFill>
                  <a:srgbClr val="FFFFFF"/>
                </a:solidFill>
                <a:latin typeface="Calibri"/>
              </a:rPr>
              <a:t>M.Tech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Artificial Intelligence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0972800" cy="2878737"/>
          </a:xfrm>
          <a:prstGeom prst="rect">
            <a:avLst/>
          </a:prstGeom>
          <a:noFill/>
        </p:spPr>
        <p:txBody>
          <a:bodyPr wrap="square" lIns="73152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2000">
                <a:solidFill>
                  <a:srgbClr val="232D37"/>
                </a:solidFill>
                <a:latin typeface="Calibri"/>
              </a:defRPr>
            </a:pPr>
            <a:r>
              <a:rPr sz="2800" dirty="0"/>
              <a:t>• Construction schedules are vulnerable to activity delays, resource constraints and unexpected disruptions.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2000">
                <a:solidFill>
                  <a:srgbClr val="232D37"/>
                </a:solidFill>
                <a:latin typeface="Calibri"/>
              </a:defRPr>
            </a:pPr>
            <a:r>
              <a:rPr sz="2800" dirty="0"/>
              <a:t>• A disrupted schedule must be analyzed quickly to identify affected activities, project delay and downstream propagation.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2000">
                <a:solidFill>
                  <a:srgbClr val="232D37"/>
                </a:solidFill>
                <a:latin typeface="Calibri"/>
              </a:defRPr>
            </a:pPr>
            <a:r>
              <a:rPr sz="2800" dirty="0"/>
              <a:t>• The project is designed as a deployable software product combining deterministic scheduling with an Agentic AI recovery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61817"/>
            <a:ext cx="10972800" cy="898708"/>
          </a:xfrm>
          <a:prstGeom prst="rect">
            <a:avLst/>
          </a:prstGeom>
          <a:noFill/>
        </p:spPr>
        <p:txBody>
          <a:bodyPr wrap="square" lIns="73152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000">
                <a:solidFill>
                  <a:srgbClr val="232D37"/>
                </a:solidFill>
                <a:latin typeface="Calibri"/>
              </a:defRPr>
            </a:pPr>
            <a:r>
              <a:rPr sz="2800" dirty="0"/>
              <a:t>• Recovery Strategy Generation is the first Agentic AI stage; proposed recovery actions will be verified by deterministic scheduling tools.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257800" cy="1508760"/>
          </a:xfrm>
          <a:prstGeom prst="roundRect">
            <a:avLst/>
          </a:prstGeom>
          <a:solidFill>
            <a:srgbClr val="E8F6FA"/>
          </a:solidFill>
          <a:ln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27631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4B5D3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4343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Generate reliable baseline schedules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4343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Calibri"/>
              </a:rPr>
              <a:t>Process PSPLIB data and create feasible baseline schedules.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08760"/>
            <a:ext cx="5257800" cy="1508760"/>
          </a:xfrm>
          <a:prstGeom prst="roundRect">
            <a:avLst/>
          </a:prstGeom>
          <a:solidFill>
            <a:srgbClr val="EFF7E8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627631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70AD47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18488"/>
            <a:ext cx="4343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Model realistic disruptions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4343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Calibri"/>
              </a:rPr>
              <a:t>Generate activity and resource disruption scenarios.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79"/>
            <a:ext cx="5257800" cy="1508760"/>
          </a:xfrm>
          <a:prstGeom prst="roundRect">
            <a:avLst/>
          </a:prstGeom>
          <a:solidFill>
            <a:srgbClr val="E8F6FA"/>
          </a:solidFill>
          <a:ln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02151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4B5D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93008"/>
            <a:ext cx="4343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Quantify disruption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77639"/>
            <a:ext cx="4343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Calibri"/>
              </a:rPr>
              <a:t>Measure feasibility, delay, activity shifts and propagation.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383279"/>
            <a:ext cx="5257800" cy="1508760"/>
          </a:xfrm>
          <a:prstGeom prst="roundRect">
            <a:avLst/>
          </a:prstGeom>
          <a:solidFill>
            <a:srgbClr val="EFF7E8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3502151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70AD47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93008"/>
            <a:ext cx="4343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Generate and verify recovery plans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977639"/>
            <a:ext cx="4343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Calibri"/>
              </a:rPr>
              <a:t>Use Agentic AI to propose strategies and scheduling tools to verify them.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11480" y="56692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>
                <a:solidFill>
                  <a:srgbClr val="1F4E79"/>
                </a:solidFill>
                <a:latin typeface="Calibri"/>
              </a:rPr>
              <a:t>System Architecture</a:t>
            </a:r>
          </a:p>
        </p:txBody>
      </p:sp>
      <p:pic>
        <p:nvPicPr>
          <p:cNvPr id="3" name="Picture 2" descr="The diagram illustrates a system architecture for a project management solution, detailing stages such as input data processing, verification, scheduling, delay analysis, recovery planning, and optimization, with feedback loops for continuous improvement.&#10;&#10;AI-generated content may be incorrect.">
            <a:extLst>
              <a:ext uri="{FF2B5EF4-FFF2-40B4-BE49-F238E27FC236}">
                <a16:creationId xmlns:a16="http://schemas.microsoft.com/office/drawing/2014/main" id="{729A4EF4-9729-947B-0A7E-AD86F325E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85" y="1229533"/>
            <a:ext cx="10828696" cy="439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B78B4"/>
                </a:solidFill>
                <a:latin typeface="Calibri"/>
              </a:rPr>
              <a:t>Development 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02920" cy="502920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10512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Data &amp;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12848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Process PSPLIB instances and generate feasible baseline schedules.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502920" cy="502920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10512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Disruption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212848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Generate 20 controlled disruption scenarios per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502920" cy="502920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810512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Schedule Re-solving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212848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Recompute disrupted schedules and record feasibility and delay.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02920" cy="50292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83279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Impact &amp; Propagation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85615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Quantify project delay, activity shifts and propagation.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401568"/>
            <a:ext cx="502920" cy="50292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383279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Agentic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785615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Analyze affected schedules and propose recovery strategies.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401568"/>
            <a:ext cx="502920" cy="50292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3383279"/>
            <a:ext cx="2971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Optimization &amp;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3785615"/>
            <a:ext cx="29718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Calibri"/>
              </a:rPr>
              <a:t>Apply candidate changes, re-schedule and evaluate recovery.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696969"/>
                </a:solidFill>
                <a:latin typeface="Calibri"/>
              </a:rPr>
              <a:t>Recovery strategies remain candidate actions until verified by the scheduling engine.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5029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2B78B4"/>
                </a:solidFill>
                <a:latin typeface="Calibri"/>
              </a:rPr>
              <a:t>Dataset &amp;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074920" cy="2971800"/>
          </a:xfrm>
          <a:prstGeom prst="rect">
            <a:avLst/>
          </a:prstGeom>
          <a:noFill/>
        </p:spPr>
        <p:txBody>
          <a:bodyPr wrap="square" lIns="73152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32D37"/>
                </a:solidFill>
                <a:latin typeface="Calibri"/>
              </a:defRPr>
            </a:pPr>
            <a:r>
              <a:t>• Source: PSPLIB benchmark project scheduling instances.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32D37"/>
                </a:solidFill>
                <a:latin typeface="Calibri"/>
              </a:defRPr>
            </a:pPr>
            <a:r>
              <a:t>• Structured JSON representation for project information, resources and activities.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32D37"/>
                </a:solidFill>
                <a:latin typeface="Calibri"/>
              </a:defRPr>
            </a:pPr>
            <a:r>
              <a:t>• Baseline schedules generated for 480 instances.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32D37"/>
                </a:solidFill>
                <a:latin typeface="Calibri"/>
              </a:defRPr>
            </a:pPr>
            <a:r>
              <a:t>• Each baseline receives 20 disruption scenarios.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32D37"/>
                </a:solidFill>
                <a:latin typeface="Calibri"/>
              </a:defRPr>
            </a:pPr>
            <a:r>
              <a:t>• Total disruption scenarios generated: 9,600.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5727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71032" y="1728216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2B78B4"/>
                </a:solidFill>
                <a:latin typeface="Calibri"/>
              </a:rPr>
              <a:t>480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2" y="2194560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Baseline schedules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5727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1728216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24B5D3"/>
                </a:solidFill>
                <a:latin typeface="Calibri"/>
              </a:rPr>
              <a:t>9,600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194560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Disruption scenarios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15727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20072" y="1728216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70AD47"/>
                </a:solidFill>
                <a:latin typeface="Calibri"/>
              </a:rPr>
              <a:t>9,321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2194560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Feasible disrupted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31729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9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2" y="3328415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ED9C48"/>
                </a:solidFill>
                <a:latin typeface="Calibri"/>
              </a:rPr>
              <a:t>279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3794759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Infeasible cases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1729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45552" y="3328415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D24B4B"/>
                </a:solidFill>
                <a:latin typeface="Calibri"/>
              </a:rPr>
              <a:t>4,913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3794759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Delayed cases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3172968"/>
            <a:ext cx="169164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20072" y="3328415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Calibri"/>
              </a:rPr>
              <a:t>480/480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3794759"/>
            <a:ext cx="1545336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232D37"/>
                </a:solidFill>
                <a:latin typeface="Calibri"/>
              </a:rPr>
              <a:t>Impact analyses 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919472"/>
            <a:ext cx="5486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Calibri"/>
              </a:rPr>
              <a:t>Batch validation completed all 480 impact-analysis files; downstream processing uses validated outputs.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2B78B4"/>
                </a:solidFill>
                <a:latin typeface="Calibri"/>
              </a:rPr>
              <a:t>Scheduling &amp; analytics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212080" cy="2926080"/>
          </a:xfrm>
          <a:prstGeom prst="rect">
            <a:avLst/>
          </a:prstGeom>
          <a:noFill/>
        </p:spPr>
        <p:txBody>
          <a:bodyPr wrap="square" lIns="73152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Calibri"/>
              </a:defRPr>
            </a:pPr>
            <a:r>
              <a:t>• Constraint-based scheduling with feasibility and solver-status checks.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Calibri"/>
              </a:defRPr>
            </a:pPr>
            <a:r>
              <a:t>• Disruption types: duration delay, start delay, resource capacity reduction, resource unavailability and activity suspension.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Calibri"/>
              </a:defRPr>
            </a:pPr>
            <a:r>
              <a:t>• Every disruption scenario is re-solved to obtain a disrupted schedule.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Calibri"/>
              </a:defRPr>
            </a:pPr>
            <a:r>
              <a:t>• Impact analysis compares each scenario against the authoritative baseline.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Calibri"/>
              </a:defRPr>
            </a:pPr>
            <a:r>
              <a:t>• Delay propagation separates potential downstream propagation from actual schedule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298448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70AD47"/>
                </a:solidFill>
                <a:latin typeface="Calibri"/>
              </a:rPr>
              <a:t>Technology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783080"/>
            <a:ext cx="2514600" cy="347472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16712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Data processing &amp;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783080"/>
            <a:ext cx="2514600" cy="347472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OR-Tools / CP-SAT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6712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Constraint scheduling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2743200"/>
            <a:ext cx="2514600" cy="347472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12724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Backend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743200"/>
            <a:ext cx="2514600" cy="347472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12724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Application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3703320"/>
            <a:ext cx="2514600" cy="347472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08736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Dashboard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3703320"/>
            <a:ext cx="2514600" cy="347472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JWT + RBAC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087368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Calibri"/>
              </a:rPr>
              <a:t>Internal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4892040"/>
            <a:ext cx="5486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Agentic AI is introduced after deterministic impact analysis so proposed recovery actions can be verified.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Milestones Achieved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Milestones achieved to date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64208"/>
          <a:ext cx="1046988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48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 completed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 / Result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45720" marR="45720" marT="27432" marB="27432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Data preparation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PSPLIB → structured JSON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Validated project/resource/activity structure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Baseline generation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Generated baseline schedules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480 baseline schedules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Disruption generation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20 scenarios per baseline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9,600 scenarios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Disrupted scheduling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Re-solved all scenarios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9,321 feasible; 279 infeasible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Impact analysis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Baseline comparison + impact metrics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480/480 files successful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Delay propagation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Potential vs actual affected activities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9,600 scenarios processed; 4,913 delayed</a:t>
                      </a:r>
                    </a:p>
                  </a:txBody>
                  <a:tcPr marL="45720" marR="45720" marT="27432" marB="27432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70AD47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marL="45720" marR="45720" marT="27432" marB="27432">
                    <a:solidFill>
                      <a:srgbClr val="EF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Agentic recovery layer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Strategy taxonomy + architecture defined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32D37"/>
                          </a:solidFill>
                          <a:latin typeface="Calibri"/>
                        </a:defRPr>
                      </a:pPr>
                      <a:r>
                        <a:t>Recovery Strategy Generation next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B78B4"/>
                          </a:solidFill>
                          <a:latin typeface="Calibri"/>
                        </a:defRPr>
                      </a:pPr>
                      <a:r>
                        <a:t>In progress</a:t>
                      </a:r>
                    </a:p>
                  </a:txBody>
                  <a:tcPr marL="45720" marR="45720" marT="27432" marB="27432">
                    <a:solidFill>
                      <a:srgbClr val="E8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E79"/>
                </a:solidFill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Agentic AI-Based Construction Schedule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696969"/>
                </a:solidFill>
                <a:latin typeface="Calibri"/>
              </a:rPr>
              <a:t>End-to-end product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057400"/>
            <a:ext cx="1051560" cy="960120"/>
          </a:xfrm>
          <a:prstGeom prst="roundRect">
            <a:avLst/>
          </a:prstGeom>
          <a:solidFill>
            <a:srgbClr val="2B78B4"/>
          </a:solidFill>
          <a:ln w="1524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Raw PSPLIB
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90472" y="2057400"/>
            <a:ext cx="1051560" cy="960120"/>
          </a:xfrm>
          <a:prstGeom prst="roundRect">
            <a:avLst/>
          </a:prstGeom>
          <a:solidFill>
            <a:srgbClr val="2B78B4"/>
          </a:solidFill>
          <a:ln w="1524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Processed
JSON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42032" y="2537460"/>
            <a:ext cx="118871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60903" y="2057400"/>
            <a:ext cx="1051560" cy="960120"/>
          </a:xfrm>
          <a:prstGeom prst="roundRect">
            <a:avLst/>
          </a:prstGeom>
          <a:solidFill>
            <a:srgbClr val="2B78B4"/>
          </a:solidFill>
          <a:ln w="1524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Baseline
Schedules
480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12463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31335" y="2057400"/>
            <a:ext cx="1051560" cy="960120"/>
          </a:xfrm>
          <a:prstGeom prst="roundRect">
            <a:avLst/>
          </a:prstGeom>
          <a:solidFill>
            <a:srgbClr val="2B78B4"/>
          </a:solidFill>
          <a:ln w="1524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Disruption
Scenarios
9,600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82896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01767" y="2057400"/>
            <a:ext cx="1051560" cy="960120"/>
          </a:xfrm>
          <a:prstGeom prst="roundRect">
            <a:avLst/>
          </a:prstGeom>
          <a:solidFill>
            <a:srgbClr val="2B78B4"/>
          </a:solidFill>
          <a:ln w="15240">
            <a:solidFill>
              <a:srgbClr val="2B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Disrupted
Schedules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53327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72199" y="2057400"/>
            <a:ext cx="1051560" cy="960120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Impact
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59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42631" y="2057400"/>
            <a:ext cx="1051560" cy="960120"/>
          </a:xfrm>
          <a:prstGeom prst="roundRect">
            <a:avLst/>
          </a:prstGeom>
          <a:solidFill>
            <a:srgbClr val="24B5D3"/>
          </a:solidFill>
          <a:ln w="15240">
            <a:solidFill>
              <a:srgbClr val="24B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Delay
Propagation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94192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13063" y="2057400"/>
            <a:ext cx="1051560" cy="96012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Recovery
Strategy Agent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64624" y="2537460"/>
            <a:ext cx="118872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83495" y="2057400"/>
            <a:ext cx="1051560" cy="96012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Recovery
Optimization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735055" y="2537460"/>
            <a:ext cx="118873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853927" y="2057400"/>
            <a:ext cx="1051560" cy="96012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Verified
Recovery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337560"/>
            <a:ext cx="6400800" cy="347472"/>
          </a:xfrm>
          <a:prstGeom prst="roundRect">
            <a:avLst/>
          </a:prstGeom>
          <a:solidFill>
            <a:srgbClr val="E8F6FA"/>
          </a:solidFill>
          <a:ln>
            <a:solidFill>
              <a:srgbClr val="E8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DETERMINISTIC DATA / SCHEDULING / ANALYTICS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337560"/>
            <a:ext cx="4206240" cy="347472"/>
          </a:xfrm>
          <a:prstGeom prst="roundRect">
            <a:avLst/>
          </a:prstGeom>
          <a:solidFill>
            <a:srgbClr val="EFF7E8"/>
          </a:solidFill>
          <a:ln>
            <a:solidFill>
              <a:srgbClr val="E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AGENTIC RECOVERY +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913632"/>
            <a:ext cx="1088136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Current completion: stages through Delay Propagation are implemented and batch validated.
Next implementation: Recovery Strategy Generation → Recovery Optimization → Evaluation.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Review II</a:t>
            </a:r>
            <a:endParaRPr lang="en-US" sz="3600" b="1" dirty="0">
              <a:solidFill>
                <a:srgbClr val="FFFFFF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3600" b="1" dirty="0">
              <a:solidFill>
                <a:srgbClr val="FFFFFF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dirty="0"/>
            </a:br>
            <a:r>
              <a:rPr sz="3600" b="1" dirty="0">
                <a:solidFill>
                  <a:srgbClr val="FFFFFF"/>
                </a:solidFill>
                <a:latin typeface="Calibri"/>
              </a:rPr>
              <a:t>Explainable RAG for Enterprise Policy Change Impact and Dependency Analysis</a:t>
            </a:r>
            <a:br>
              <a:rPr dirty="0"/>
            </a:br>
            <a:endParaRPr lang="en-US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dirty="0"/>
            </a:br>
            <a:r>
              <a:rPr sz="2400" b="1" dirty="0">
                <a:solidFill>
                  <a:srgbClr val="FFFFFF"/>
                </a:solidFill>
                <a:latin typeface="Calibri"/>
              </a:rPr>
              <a:t>Team Members</a:t>
            </a:r>
            <a:br>
              <a:rPr dirty="0"/>
            </a:br>
            <a:r>
              <a:rPr sz="2400" b="1" dirty="0">
                <a:solidFill>
                  <a:srgbClr val="FFFFFF"/>
                </a:solidFill>
                <a:latin typeface="Calibri"/>
              </a:rPr>
              <a:t>Nandana Jayan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27116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3886200" y="5806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</p:spTree>
    <p:extLst>
      <p:ext uri="{BB962C8B-B14F-4D97-AF65-F5344CB8AC3E}">
        <p14:creationId xmlns:p14="http://schemas.microsoft.com/office/powerpoint/2010/main" val="3898974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232323"/>
                </a:solidFill>
                <a:latin typeface="Calibri"/>
              </a:rPr>
              <a:t>Enterprise policies are interconnected, and a change in one policy can affect related clauses, dependencies and compliance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354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Current challenge: manually tracing affected policies and dependencies is time-consuming and difficult to audit.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Proposed solution: an Explainable Retrieval-Augmented Generation (RAG) framework that retrieves relevant policy evidence and traces policy dependencies.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The system analyzes the impact of a proposed policy change and generates evidence-backed explanations for affected policies and required actions.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Primary users: compliance teams, policy owners, risk teams and enterprise decision-makers.</a:t>
            </a:r>
          </a:p>
        </p:txBody>
      </p:sp>
    </p:spTree>
    <p:extLst>
      <p:ext uri="{BB962C8B-B14F-4D97-AF65-F5344CB8AC3E}">
        <p14:creationId xmlns:p14="http://schemas.microsoft.com/office/powerpoint/2010/main" val="380793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3880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Process enterprise policy documents and organize them at policy / clause level.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Retrieve semantically relevant policies and clauses for a given policy change.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Identify relationships and dependencies among policies and clauses.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Analyze affected policies, conflicts and downstream impact caused by a change.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Use LLM-based reasoning over retrieved evidence to produce traceable explanations.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Calibri"/>
              </a:defRPr>
            </a:pPr>
            <a:r>
              <a:rPr sz="2400" dirty="0"/>
              <a:t>Generate a concise impact report highlighting evidence, affected policies and required follow-up actions.</a:t>
            </a:r>
          </a:p>
        </p:txBody>
      </p:sp>
    </p:spTree>
    <p:extLst>
      <p:ext uri="{BB962C8B-B14F-4D97-AF65-F5344CB8AC3E}">
        <p14:creationId xmlns:p14="http://schemas.microsoft.com/office/powerpoint/2010/main" val="55788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1417320"/>
            <a:ext cx="5394960" cy="53035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1. Policy Document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2039112"/>
            <a:ext cx="5065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232323"/>
                </a:solidFill>
                <a:latin typeface="Calibri"/>
              </a:rPr>
              <a:t>Upload policy PDFs, extract text, clean content, and segment it into traceable clauses / sections.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17320"/>
            <a:ext cx="5394960" cy="53035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2. RAG &amp; Semantic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039112"/>
            <a:ext cx="5065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Calibri"/>
              </a:rPr>
              <a:t>Create embeddings and retrieve the most relevant policies and clauses for a proposed change.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37560"/>
            <a:ext cx="5394960" cy="53035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3. Change &amp; Dependency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959352"/>
            <a:ext cx="5065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Calibri"/>
              </a:rPr>
              <a:t>Compare the change with existing requirements and trace relationships across policies and clauses.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337560"/>
            <a:ext cx="5394960" cy="530352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4. Impact, Explainability &amp;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959352"/>
            <a:ext cx="5065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Calibri"/>
              </a:rPr>
              <a:t>Identify affected areas / conflicts and generate evidence-backed explanations and impact reports.</a:t>
            </a:r>
          </a:p>
        </p:txBody>
      </p:sp>
    </p:spTree>
    <p:extLst>
      <p:ext uri="{BB962C8B-B14F-4D97-AF65-F5344CB8AC3E}">
        <p14:creationId xmlns:p14="http://schemas.microsoft.com/office/powerpoint/2010/main" val="3338366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System Architecture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513484-EBD7-2019-3AAB-2B86B3736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52" y="1400537"/>
            <a:ext cx="10706582" cy="446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3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03520" cy="64008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Policy Document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4983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Input: enterprise policy PDFs / policy documents.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Extract text and preserve document / section metadata.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Clean extraction artefacts and normalize text.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Segment content into policy clauses / sections.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Attach identifiers for traceability back to source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03520" cy="64008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EDA / Quality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4983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Document count and policy coverage.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Document length and clause-length distributions.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Missing / empty extracted text checks.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Duplicate and near-duplicate content checks.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Metadata and clause-ID consistency checks.</a:t>
            </a:r>
          </a:p>
        </p:txBody>
      </p:sp>
    </p:spTree>
    <p:extLst>
      <p:ext uri="{BB962C8B-B14F-4D97-AF65-F5344CB8AC3E}">
        <p14:creationId xmlns:p14="http://schemas.microsoft.com/office/powerpoint/2010/main" val="151400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429000" cy="73152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323"/>
                </a:solidFill>
                <a:latin typeface="Calibri"/>
              </a:rPr>
              <a:t>Sentence Transformers</a:t>
            </a:r>
            <a:br/>
            <a:r>
              <a:t>FAISS / Chroma</a:t>
            </a:r>
            <a:br/>
            <a:r>
              <a:t>Semantic similarity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08760"/>
            <a:ext cx="3429000" cy="73152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Reasoning &amp;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42316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323"/>
                </a:solidFill>
                <a:latin typeface="Calibri"/>
              </a:rPr>
              <a:t>LLM + LangChain</a:t>
            </a:r>
            <a:br/>
            <a:r>
              <a:t>NetworkX</a:t>
            </a:r>
            <a:br/>
            <a:r>
              <a:t>Dependency traversal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429000" cy="73152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323"/>
                </a:solidFill>
                <a:latin typeface="Calibri"/>
              </a:rPr>
              <a:t>Python</a:t>
            </a:r>
            <a:br/>
            <a:r>
              <a:t>FastAPI / Streamlit</a:t>
            </a:r>
            <a:br/>
            <a:r>
              <a:t>PostgreSQL /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497D"/>
                </a:solidFill>
                <a:latin typeface="Calibri"/>
              </a:rPr>
              <a:t>Core approach: RAG + dependency graph + LLM reasoning + evidence-backed explanation</a:t>
            </a:r>
          </a:p>
        </p:txBody>
      </p:sp>
    </p:spTree>
    <p:extLst>
      <p:ext uri="{BB962C8B-B14F-4D97-AF65-F5344CB8AC3E}">
        <p14:creationId xmlns:p14="http://schemas.microsoft.com/office/powerpoint/2010/main" val="403243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Next Step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Problem definition &amp;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Defined policy-change impact, dependency tracing and explainability objectives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Freeze functional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Literature review &amp; gap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Reviewed RAG, policy analysis, dependency / impact-analysis approaches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Use findings to finalize design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Module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Defined document processing, retrieval, dependency, impact and reporting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Implement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System architecture &amp; pipeline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Defined end-to-end architecture and processing pipeline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Implement data + retrieval flow</a:t>
                      </a:r>
                    </a:p>
                  </a:txBody>
                  <a:tcPr>
                    <a:solidFill>
                      <a:srgbClr val="F2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Implementation &amp;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Dataset ingestion, retrieval experiments, graph analysis and impact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32323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32323"/>
                          </a:solidFill>
                          <a:latin typeface="Calibri"/>
                        </a:rPr>
                        <a:t>Build prototype and evaluate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5780" y="1417320"/>
          <a:ext cx="11018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26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anchor="ctr">
                    <a:solidFill>
                      <a:srgbClr val="26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26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Progress</a:t>
                      </a:r>
                    </a:p>
                  </a:txBody>
                  <a:tcPr anchor="ctr">
                    <a:solidFill>
                      <a:srgbClr val="264F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Dataset Processing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Policy documents processed and prepared for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Database Connection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Database configured and application connectivity established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32323"/>
                          </a:solidFill>
                          <a:latin typeface="Calibri"/>
                        </a:rPr>
                        <a:t>Frontend Dashboard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Initial dashboard implemented for the policy analysis workflow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Policy Document Processing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Clause-level extraction, cleaning and traceable policy segmentation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Implementation ongoing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RAG &amp; Semantic Retrieval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Embeddings, vector indexing and relevant-clause retrieval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Implementation ongoing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Dependency &amp; Impact Analysis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32323"/>
                          </a:solidFill>
                          <a:latin typeface="Calibri"/>
                        </a:rPr>
                        <a:t>Dependency graph, affected-policy tracing and conflict analysis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32323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32323"/>
                          </a:solidFill>
                          <a:latin typeface="Calibri"/>
                        </a:rPr>
                        <a:t>Implementation ongoing</a:t>
                      </a:r>
                    </a:p>
                  </a:txBody>
                  <a:tcPr marL="73152" marR="73152" marT="36576" marB="36576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16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sz="2800" b="1">
                <a:solidFill>
                  <a:srgbClr val="1F497D"/>
                </a:solidFill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1200" b="0">
                <a:solidFill>
                  <a:srgbClr val="646464"/>
                </a:solidFill>
                <a:latin typeface="Calibri"/>
              </a:rPr>
              <a:t>Explainable RAG for Enterprise Policy Change Impact and Dependency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32588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32323"/>
                </a:solidFill>
                <a:latin typeface="Calibri"/>
              </a:rPr>
              <a:t>Policy Documents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674620"/>
            <a:ext cx="13716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65960" y="2148840"/>
            <a:ext cx="169164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232323"/>
                </a:solidFill>
                <a:latin typeface="Calibri"/>
              </a:rPr>
              <a:t>Text Extraction</a:t>
            </a:r>
            <a:br>
              <a:rPr dirty="0"/>
            </a:br>
            <a:r>
              <a:rPr dirty="0">
                <a:solidFill>
                  <a:schemeClr val="tx2"/>
                </a:solidFill>
              </a:rPr>
              <a:t>&amp; Clause Chunking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674620"/>
            <a:ext cx="22860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148840"/>
            <a:ext cx="132588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232323"/>
                </a:solidFill>
                <a:latin typeface="Calibri"/>
              </a:rPr>
              <a:t>Embeddings</a:t>
            </a:r>
            <a:br>
              <a:rPr dirty="0"/>
            </a:br>
            <a:r>
              <a:rPr dirty="0">
                <a:solidFill>
                  <a:schemeClr val="tx2"/>
                </a:solidFill>
              </a:rPr>
              <a:t>&amp; Indexing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12080" y="2674620"/>
            <a:ext cx="50292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15000" y="2148840"/>
            <a:ext cx="132588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232323"/>
                </a:solidFill>
                <a:latin typeface="Calibri"/>
              </a:rPr>
              <a:t>Policy Change</a:t>
            </a:r>
            <a:br>
              <a:rPr dirty="0"/>
            </a:br>
            <a:r>
              <a:rPr dirty="0">
                <a:solidFill>
                  <a:schemeClr val="tx2"/>
                </a:solidFill>
              </a:rPr>
              <a:t>Input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80" y="2674620"/>
            <a:ext cx="27432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0" y="2148840"/>
            <a:ext cx="132588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32323"/>
                </a:solidFill>
                <a:latin typeface="Calibri"/>
              </a:rPr>
              <a:t>Semantic Retrieval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41080" y="2674620"/>
            <a:ext cx="18288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23960" y="2148840"/>
            <a:ext cx="1417320" cy="1051560"/>
          </a:xfrm>
          <a:prstGeom prst="roundRect">
            <a:avLst/>
          </a:prstGeom>
          <a:solidFill>
            <a:srgbClr val="DDEBF7"/>
          </a:solidFill>
          <a:ln w="17780">
            <a:solidFill>
              <a:srgbClr val="25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232323"/>
                </a:solidFill>
                <a:latin typeface="Calibri"/>
              </a:rPr>
              <a:t>Dependency &amp;</a:t>
            </a:r>
            <a:br>
              <a:rPr dirty="0"/>
            </a:br>
            <a:r>
              <a:rPr dirty="0">
                <a:solidFill>
                  <a:schemeClr val="tx2"/>
                </a:solidFill>
              </a:rPr>
              <a:t>Impact Analysis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41280" y="2674620"/>
            <a:ext cx="137160" cy="0"/>
          </a:xfrm>
          <a:prstGeom prst="line">
            <a:avLst/>
          </a:prstGeom>
          <a:ln w="2032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378440" y="2148840"/>
            <a:ext cx="1325880" cy="1051560"/>
          </a:xfrm>
          <a:prstGeom prst="roundRect">
            <a:avLst/>
          </a:prstGeom>
          <a:solidFill>
            <a:srgbClr val="EBF5EB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232323"/>
                </a:solidFill>
                <a:latin typeface="Calibri"/>
              </a:rPr>
              <a:t>Explainable</a:t>
            </a:r>
            <a:br>
              <a:rPr dirty="0"/>
            </a:br>
            <a:r>
              <a:rPr dirty="0">
                <a:solidFill>
                  <a:schemeClr val="tx2"/>
                </a:solidFill>
              </a:rPr>
              <a:t>Impact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Retrieved clauses + dependency evidence → LLM reasoning → traceable explanation of affected policies, conflicts and required actions</a:t>
            </a:r>
          </a:p>
        </p:txBody>
      </p:sp>
    </p:spTree>
    <p:extLst>
      <p:ext uri="{BB962C8B-B14F-4D97-AF65-F5344CB8AC3E}">
        <p14:creationId xmlns:p14="http://schemas.microsoft.com/office/powerpoint/2010/main" val="136041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1410</Words>
  <Application>Microsoft Office PowerPoint</Application>
  <PresentationFormat>Widescreen</PresentationFormat>
  <Paragraphs>270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nandana jayan</cp:lastModifiedBy>
  <cp:revision>14</cp:revision>
  <dcterms:created xsi:type="dcterms:W3CDTF">2024-05-13T10:33:11Z</dcterms:created>
  <dcterms:modified xsi:type="dcterms:W3CDTF">2026-09-29T02:38:13Z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