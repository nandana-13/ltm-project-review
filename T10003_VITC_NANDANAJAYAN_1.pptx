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38360" y="594360"/>
            <a:ext cx="1417320" cy="141732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78440" y="489204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594360"/>
            <a:ext cx="64008" cy="5257800"/>
          </a:xfrm>
          <a:prstGeom prst="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200" b="1">
                <a:solidFill>
                  <a:srgbClr val="436FAE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197864"/>
            <a:ext cx="6080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t>Agentic AI-Based Construction Schedule</a:t>
            </a:r>
            <a:br/>
            <a:r>
              <a:t>Disruption Analysis and Recovery Planning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200" b="1">
                <a:solidFill>
                  <a:srgbClr val="20898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09544"/>
            <a:ext cx="60807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192B43"/>
                </a:solidFill>
                <a:latin typeface="Aptos Display"/>
              </a:defRPr>
            </a:pPr>
            <a:r>
              <a:rPr dirty="0"/>
              <a:t>An Explainable RAG Framework for Enterprise Policy</a:t>
            </a:r>
            <a:r>
              <a:rPr lang="en-GB" dirty="0"/>
              <a:t> </a:t>
            </a:r>
            <a:r>
              <a:rPr dirty="0"/>
              <a:t>Change Impact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0574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87000" y="20574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09760" y="333756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32520" y="4572000"/>
            <a:ext cx="256032" cy="25603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87000" y="4572000"/>
            <a:ext cx="256032" cy="25603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88552" y="2176272"/>
            <a:ext cx="1298448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37776" y="2304288"/>
            <a:ext cx="22860" cy="1033271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37776" y="3337560"/>
            <a:ext cx="649224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8552" y="4700016"/>
            <a:ext cx="521207" cy="22860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3593592"/>
            <a:ext cx="22860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37776" y="3593592"/>
            <a:ext cx="649224" cy="1014984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6144768"/>
            <a:ext cx="29260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rPr dirty="0"/>
              <a:t>Nandana Jayan</a:t>
            </a:r>
            <a:endParaRPr lang="en-GB" dirty="0"/>
          </a:p>
          <a:p>
            <a:pPr algn="l">
              <a:defRPr sz="1300" b="1">
                <a:solidFill>
                  <a:srgbClr val="6F7E8F"/>
                </a:solidFill>
                <a:latin typeface="Aptos"/>
              </a:defRPr>
            </a:pPr>
            <a:r>
              <a:rPr lang="en-IN" dirty="0"/>
              <a:t>T10003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Agentic AI for Dynamic Construction Schedule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19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Problem</a:t>
            </a:r>
            <a:r>
              <a:rPr lang="en-GB" dirty="0"/>
              <a:t> Statement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E2EBF3"/>
                </a:solidFill>
                <a:latin typeface="Aptos"/>
              </a:defRPr>
            </a:pPr>
            <a:r>
              <a:rPr dirty="0"/>
              <a:t>Construction projects can be disrupted by material shortages, resource unavailability and other unexpected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60054"/>
            <a:ext cx="306324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C2D2E0"/>
                </a:solidFill>
                <a:latin typeface="Aptos"/>
              </a:defRPr>
            </a:pPr>
            <a:r>
              <a:rPr lang="en-GB" sz="1400" dirty="0"/>
              <a:t>The proposed system uses an AI agent to </a:t>
            </a:r>
            <a:r>
              <a:rPr lang="en-GB" sz="1400" dirty="0" err="1"/>
              <a:t>analyze</a:t>
            </a:r>
            <a:r>
              <a:rPr lang="en-GB" sz="1400" dirty="0"/>
              <a:t> the changed schedule and automatically find a feasible plan to recover the project timeline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436FAE"/>
                </a:solidFill>
                <a:latin typeface="Aptos"/>
              </a:defRPr>
            </a:pPr>
            <a:r>
              <a:rPr sz="1600" dirty="0"/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2677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39161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lang="en-GB" sz="1400" dirty="0"/>
              <a:t>Detect</a:t>
            </a:r>
            <a:r>
              <a:rPr sz="1400" dirty="0"/>
              <a:t> the impact of disruptions on activities and dependencies.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1821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4474" y="3085540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Create multiple feasible recovery strategies using an AI agent.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07687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67073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Compare plans using time, cost, resources and constraints.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436FA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00956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Recommend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994629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Select the most suitable recovery plan with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27432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50" b="0">
                <a:solidFill>
                  <a:srgbClr val="6F7E8F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PSPLIB / project-scheduling benchmark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Activities, durations, precedence relationships and resource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Ghent University project-scheduling data for additional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Controlled disruptions such as activity delays and resource shortages.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rPr dirty="0"/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340525"/>
            <a:ext cx="1481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LangGraph</a:t>
            </a:r>
            <a:r>
              <a:rPr sz="1100" dirty="0"/>
              <a:t> / </a:t>
            </a:r>
            <a:r>
              <a:rPr sz="1100" dirty="0" err="1"/>
              <a:t>LangChain</a:t>
            </a:r>
            <a:endParaRPr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OR-Tools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Pandas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FastAPI</a:t>
            </a:r>
            <a:endParaRPr sz="1100" dirty="0"/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Streamlit</a:t>
            </a:r>
            <a:endParaRPr sz="1100" dirty="0"/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rPr dirty="0"/>
              <a:t>Docker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192B43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rPr dirty="0"/>
              <a:t>Expected Outcome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77072" y="2221991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An agentic system that understands a disrupted project state.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77072" y="2935224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Generates and evaluates alternative recovery plans.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77072" y="3648456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Recommends the best feasible recovery strategy.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77072" y="4361688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Explains why the selected plan is preferred.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Explainable RAG for Enterprise Policy Change Impact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794760" cy="4343400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Problem</a:t>
            </a:r>
            <a:r>
              <a:rPr lang="en-GB" dirty="0"/>
              <a:t> Statement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306324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Enterprise policies change over time and often contain references, dependencies and requirements that span multiple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11980"/>
            <a:ext cx="3063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DAEFEE"/>
                </a:solidFill>
                <a:latin typeface="Aptos"/>
              </a:defRPr>
            </a:pPr>
            <a:r>
              <a:rPr sz="1400" dirty="0"/>
              <a:t>Traditional document search may retrieve information but does not clearly trace changes and their impact across related policies.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64208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20898B"/>
                </a:solidFill>
                <a:latin typeface="Aptos"/>
              </a:defRPr>
            </a:pPr>
            <a:r>
              <a:rPr sz="1600" dirty="0"/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1488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768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2330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33084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Find relevant policy clauses and versions using RAG.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26700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92040" y="30632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319125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1912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21155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Detect and compare changes between policy versions.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35844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92040" y="3977639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1056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41056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8469" y="4108659"/>
            <a:ext cx="4572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Represent relationships between policies, clauses and requirements.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9784" y="4498848"/>
            <a:ext cx="13716" cy="3474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92040" y="4892040"/>
            <a:ext cx="475488" cy="475488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5020055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2089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500956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92B43"/>
                </a:solidFill>
                <a:latin typeface="Aptos"/>
              </a:defRPr>
            </a:pPr>
            <a:r>
              <a:rPr dirty="0"/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5024013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Provide evidence-grounded, traceable impact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368" y="8686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500" b="1">
                <a:solidFill>
                  <a:srgbClr val="192B43"/>
                </a:solidFill>
                <a:latin typeface="Aptos Display"/>
              </a:defRPr>
            </a:pPr>
            <a:r>
              <a:t>Dataset • Technology • 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50" b="1">
                <a:solidFill>
                  <a:srgbClr val="6F7E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37360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Public regulatory / policy document corpus such as </a:t>
            </a:r>
            <a:r>
              <a:rPr sz="1400" dirty="0" err="1"/>
              <a:t>ObliQA</a:t>
            </a:r>
            <a:r>
              <a:rPr sz="14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lang="en-GB" sz="1400" dirty="0"/>
              <a:t>Policy documents and clauses form the RAG knowledge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28986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Metadata: policy ID, version, date and domain.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61688"/>
            <a:ext cx="2898648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Structured annotations for policy changes and inter-policy relationships.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5087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2856" y="1719072"/>
            <a:ext cx="347472" cy="347472"/>
          </a:xfrm>
          <a:prstGeom prst="roundRect">
            <a:avLst/>
          </a:prstGeom>
          <a:solidFill>
            <a:srgbClr val="43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62856" y="1810512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2331720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2856" y="2441448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377327"/>
            <a:ext cx="1481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LangChain</a:t>
            </a:r>
            <a:r>
              <a:rPr sz="1100" dirty="0"/>
              <a:t> / </a:t>
            </a:r>
            <a:r>
              <a:rPr sz="1100" dirty="0" err="1"/>
              <a:t>LlamaIndex</a:t>
            </a:r>
            <a:endParaRPr sz="1100" dirty="0"/>
          </a:p>
        </p:txBody>
      </p:sp>
      <p:sp>
        <p:nvSpPr>
          <p:cNvPr id="28" name="Rounded Rectangle 27"/>
          <p:cNvSpPr/>
          <p:nvPr/>
        </p:nvSpPr>
        <p:spPr>
          <a:xfrm>
            <a:off x="4562856" y="2953512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62856" y="3063240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lang="en-GB" sz="1100" dirty="0"/>
              <a:t>Sentence Transformers</a:t>
            </a:r>
            <a:endParaRPr sz="1100" dirty="0"/>
          </a:p>
        </p:txBody>
      </p:sp>
      <p:sp>
        <p:nvSpPr>
          <p:cNvPr id="30" name="Rounded Rectangle 29"/>
          <p:cNvSpPr/>
          <p:nvPr/>
        </p:nvSpPr>
        <p:spPr>
          <a:xfrm>
            <a:off x="6190488" y="2953512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0488" y="3063240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FAISS / </a:t>
            </a:r>
            <a:r>
              <a:rPr sz="1100" dirty="0" err="1"/>
              <a:t>ChromaDB</a:t>
            </a:r>
            <a:endParaRPr sz="1100" dirty="0"/>
          </a:p>
        </p:txBody>
      </p:sp>
      <p:sp>
        <p:nvSpPr>
          <p:cNvPr id="32" name="Rounded Rectangle 31"/>
          <p:cNvSpPr/>
          <p:nvPr/>
        </p:nvSpPr>
        <p:spPr>
          <a:xfrm>
            <a:off x="4562856" y="3575304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62856" y="3685032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NetworkX</a:t>
            </a:r>
            <a:endParaRPr sz="1100" dirty="0"/>
          </a:p>
        </p:txBody>
      </p:sp>
      <p:sp>
        <p:nvSpPr>
          <p:cNvPr id="34" name="Rounded Rectangle 33"/>
          <p:cNvSpPr/>
          <p:nvPr/>
        </p:nvSpPr>
        <p:spPr>
          <a:xfrm>
            <a:off x="6190488" y="3575304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3685032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LLM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62856" y="4197096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306824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Streamlit</a:t>
            </a:r>
            <a:endParaRPr sz="1100" dirty="0"/>
          </a:p>
        </p:txBody>
      </p:sp>
      <p:sp>
        <p:nvSpPr>
          <p:cNvPr id="38" name="Rounded Rectangle 37"/>
          <p:cNvSpPr/>
          <p:nvPr/>
        </p:nvSpPr>
        <p:spPr>
          <a:xfrm>
            <a:off x="6190488" y="4197096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90488" y="4306824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 err="1"/>
              <a:t>FastAPI</a:t>
            </a:r>
            <a:endParaRPr sz="1100" dirty="0"/>
          </a:p>
        </p:txBody>
      </p:sp>
      <p:sp>
        <p:nvSpPr>
          <p:cNvPr id="40" name="Rounded Rectangle 39"/>
          <p:cNvSpPr/>
          <p:nvPr/>
        </p:nvSpPr>
        <p:spPr>
          <a:xfrm>
            <a:off x="4562856" y="4818888"/>
            <a:ext cx="1508760" cy="411480"/>
          </a:xfrm>
          <a:prstGeom prst="round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4928616"/>
            <a:ext cx="15087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Docker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4818888"/>
            <a:ext cx="1481328" cy="4114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90488" y="4928616"/>
            <a:ext cx="14813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19" b="1">
                <a:solidFill>
                  <a:srgbClr val="192B43"/>
                </a:solidFill>
                <a:latin typeface="Aptos"/>
              </a:defRPr>
            </a:pPr>
            <a:r>
              <a:rPr sz="1100" dirty="0"/>
              <a:t>Git / GitHub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3" y="150876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330183" y="1719072"/>
            <a:ext cx="347472" cy="34747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30183" y="178308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14815" y="1737360"/>
            <a:ext cx="25968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50" b="1">
                <a:solidFill>
                  <a:srgbClr val="192B43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2295144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77072" y="2221991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 err="1"/>
              <a:t>PolicyGraph</a:t>
            </a:r>
            <a:r>
              <a:rPr sz="1400" dirty="0"/>
              <a:t>-based explainable RAG system.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75904" y="3008376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77072" y="2935224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Identifies policy changes and related or affected policies.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75904" y="3721608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77072" y="3648456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Retrieves supporting evidence for each conclusion.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75904" y="4434840"/>
            <a:ext cx="73152" cy="73152"/>
          </a:xfrm>
          <a:prstGeom prst="roundRect">
            <a:avLst/>
          </a:prstGeom>
          <a:solidFill>
            <a:srgbClr val="208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77072" y="4361688"/>
            <a:ext cx="285292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B495B"/>
                </a:solidFill>
                <a:latin typeface="Aptos"/>
              </a:defRPr>
            </a:pPr>
            <a:r>
              <a:rPr sz="1400" dirty="0"/>
              <a:t>Generates clear, traceable impact explanations.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408</Words>
  <Application>Microsoft Office PowerPoint</Application>
  <PresentationFormat>Widescreen</PresentationFormat>
  <Paragraphs>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Nandana Jayan</dc:creator>
  <cp:keywords/>
  <dc:description>generated using python-pptx</dc:description>
  <cp:lastModifiedBy>Nandana Jayan</cp:lastModifiedBy>
  <cp:revision>4</cp:revision>
  <dcterms:created xsi:type="dcterms:W3CDTF">2013-01-27T09:14:16Z</dcterms:created>
  <dcterms:modified xsi:type="dcterms:W3CDTF">2026-08-28T04:18:54Z</dcterms:modified>
  <cp:category/>
</cp:coreProperties>
</file>