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38360" y="594360"/>
            <a:ext cx="1417320" cy="141732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378440" y="4892040"/>
            <a:ext cx="8229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594360"/>
            <a:ext cx="64008" cy="5257800"/>
          </a:xfrm>
          <a:prstGeom prst="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234440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200" b="1">
                <a:solidFill>
                  <a:srgbClr val="436FAE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197864"/>
            <a:ext cx="60807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192B43"/>
                </a:solidFill>
                <a:latin typeface="Aptos Display"/>
              </a:defRPr>
            </a:pPr>
            <a:r>
              <a:t>Agentic AI-Based Construction Schedule</a:t>
            </a:r>
            <a:br/>
            <a:r>
              <a:t>Disruption Analysis and Recovery Planning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200" b="1">
                <a:solidFill>
                  <a:srgbClr val="20898B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209544"/>
            <a:ext cx="608076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192B43"/>
                </a:solidFill>
                <a:latin typeface="Aptos Display"/>
              </a:defRPr>
            </a:pPr>
            <a:r>
              <a:rPr dirty="0"/>
              <a:t>An Explainable RAG Framework for Enterprise Policy</a:t>
            </a:r>
            <a:r>
              <a:rPr lang="en-GB" dirty="0"/>
              <a:t> </a:t>
            </a:r>
            <a:r>
              <a:rPr dirty="0"/>
              <a:t>Change Impact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057400"/>
            <a:ext cx="256032" cy="25603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87000" y="2057400"/>
            <a:ext cx="256032" cy="25603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509760" y="3337560"/>
            <a:ext cx="256032" cy="25603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732520" y="4572000"/>
            <a:ext cx="256032" cy="25603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87000" y="4572000"/>
            <a:ext cx="256032" cy="25603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88552" y="2176272"/>
            <a:ext cx="1298448" cy="22860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637776" y="2304288"/>
            <a:ext cx="22860" cy="1033271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637776" y="3337560"/>
            <a:ext cx="649224" cy="22860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88552" y="4700016"/>
            <a:ext cx="521207" cy="22860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509760" y="3593592"/>
            <a:ext cx="22860" cy="1014984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37776" y="3593592"/>
            <a:ext cx="649224" cy="1014984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6144768"/>
            <a:ext cx="292608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6F7E8F"/>
                </a:solidFill>
                <a:latin typeface="Aptos"/>
              </a:defRPr>
            </a:pPr>
            <a:r>
              <a:rPr dirty="0"/>
              <a:t>Nandana Jayan</a:t>
            </a:r>
            <a:r>
              <a:rPr lang="en-GB" dirty="0"/>
              <a:t> (25MML1016)</a:t>
            </a:r>
          </a:p>
          <a:p>
            <a:pPr algn="l">
              <a:defRPr sz="1300" b="1">
                <a:solidFill>
                  <a:srgbClr val="6F7E8F"/>
                </a:solidFill>
                <a:latin typeface="Aptos"/>
              </a:defRPr>
            </a:pPr>
            <a:r>
              <a:rPr lang="en-IN" dirty="0"/>
              <a:t>T10003</a:t>
            </a:r>
          </a:p>
          <a:p>
            <a:pPr algn="l">
              <a:defRPr sz="1300" b="1">
                <a:solidFill>
                  <a:srgbClr val="6F7E8F"/>
                </a:solidFill>
                <a:latin typeface="Aptos"/>
              </a:defRPr>
            </a:pPr>
            <a:r>
              <a:rPr lang="en-GB" dirty="0"/>
              <a:t>VIT Chennai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8368" y="8686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500" b="1">
                <a:solidFill>
                  <a:srgbClr val="192B43"/>
                </a:solidFill>
                <a:latin typeface="Aptos Display"/>
              </a:defRPr>
            </a:pPr>
            <a:r>
              <a:t>Agentic AI for Dynamic Construction Schedule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1">
                <a:solidFill>
                  <a:srgbClr val="6F7E8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3794760" cy="4343400"/>
          </a:xfrm>
          <a:prstGeom prst="roundRect">
            <a:avLst/>
          </a:prstGeom>
          <a:solidFill>
            <a:srgbClr val="19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30632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Problem</a:t>
            </a:r>
            <a:r>
              <a:rPr lang="en-GB" dirty="0"/>
              <a:t> Statement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30632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0">
                <a:solidFill>
                  <a:srgbClr val="E2EBF3"/>
                </a:solidFill>
                <a:latin typeface="Aptos"/>
              </a:defRPr>
            </a:pPr>
            <a:r>
              <a:rPr dirty="0"/>
              <a:t>Construction projects can be disrupted by material shortages, resource unavailability and other unexpected events.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60054"/>
            <a:ext cx="306324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50" b="0">
                <a:solidFill>
                  <a:srgbClr val="C2D2E0"/>
                </a:solidFill>
                <a:latin typeface="Aptos"/>
              </a:defRPr>
            </a:pPr>
            <a:r>
              <a:rPr lang="en-GB" sz="1400" dirty="0"/>
              <a:t>The proposed system uses an AI agent to </a:t>
            </a:r>
            <a:r>
              <a:rPr lang="en-GB" sz="1400" dirty="0" err="1"/>
              <a:t>analyze</a:t>
            </a:r>
            <a:r>
              <a:rPr lang="en-GB" sz="1400" dirty="0"/>
              <a:t> the changed schedule and automatically find a feasible plan to recover the project timeline</a:t>
            </a:r>
            <a:endParaRPr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4892040" y="1664208"/>
            <a:ext cx="2560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>
                <a:solidFill>
                  <a:srgbClr val="436FAE"/>
                </a:solidFill>
                <a:latin typeface="Aptos"/>
              </a:defRPr>
            </a:pPr>
            <a:r>
              <a:rPr sz="1600" dirty="0"/>
              <a:t>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148840"/>
            <a:ext cx="475488" cy="475488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40" y="227685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436FA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226771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239161"/>
            <a:ext cx="4572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lang="en-GB" sz="1400" dirty="0"/>
              <a:t>Detect</a:t>
            </a:r>
            <a:r>
              <a:rPr sz="1400" dirty="0"/>
              <a:t> the impact of disruptions on activities and dependencies.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9784" y="26700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92040" y="3063240"/>
            <a:ext cx="475488" cy="475488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319125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436FA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318211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Generate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4474" y="3085540"/>
            <a:ext cx="4572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Create multiple feasible recovery strategies using an AI agent.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9784" y="35844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892040" y="3977639"/>
            <a:ext cx="475488" cy="475488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4105655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436FA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4076875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Evaluate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067073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Compare plans using time, cost, resources and constraints.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9784" y="44988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892040" y="4892040"/>
            <a:ext cx="475488" cy="475488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2040" y="5020055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436FA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5009563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Recommend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994629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Select the most suitable recovery plan with reasoning.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8368" y="8686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500" b="1">
                <a:solidFill>
                  <a:srgbClr val="192B43"/>
                </a:solidFill>
                <a:latin typeface="Aptos Display"/>
              </a:defRPr>
            </a:pPr>
            <a:r>
              <a:t>Dataset • Technology • 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27432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50" b="0">
                <a:solidFill>
                  <a:srgbClr val="6F7E8F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1">
                <a:solidFill>
                  <a:srgbClr val="6F7E8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50876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8952" y="1719072"/>
            <a:ext cx="347472" cy="34747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783080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1737360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" y="2295144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221991"/>
            <a:ext cx="2898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PSPLIB / project-scheduling benchmark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" y="3008376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289864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Activities, durations, precedence relationships and resource requirements.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" y="3721608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648456"/>
            <a:ext cx="2898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Ghent University project-scheduling data for additional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" y="4434840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361688"/>
            <a:ext cx="289864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Controlled disruptions such as activity delays and resource shortages.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50876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62856" y="1719072"/>
            <a:ext cx="347472" cy="34747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62856" y="1810512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rPr dirty="0"/>
              <a:t>Technology 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62856" y="2331720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62856" y="2441448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Python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2331720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0488" y="2340525"/>
            <a:ext cx="148132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LangGraph</a:t>
            </a:r>
            <a:r>
              <a:rPr sz="1100" dirty="0"/>
              <a:t> / </a:t>
            </a:r>
            <a:r>
              <a:rPr sz="1100" dirty="0" err="1"/>
              <a:t>LangChain</a:t>
            </a:r>
            <a:endParaRPr sz="1100" dirty="0"/>
          </a:p>
        </p:txBody>
      </p:sp>
      <p:sp>
        <p:nvSpPr>
          <p:cNvPr id="28" name="Rounded Rectangle 27"/>
          <p:cNvSpPr/>
          <p:nvPr/>
        </p:nvSpPr>
        <p:spPr>
          <a:xfrm>
            <a:off x="4562856" y="2953512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62856" y="3063240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LLM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2953512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0488" y="3063240"/>
            <a:ext cx="14813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OR-Tools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62856" y="3575304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62856" y="3685032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Pandas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575304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90488" y="3685032"/>
            <a:ext cx="14813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FastAPI</a:t>
            </a:r>
            <a:endParaRPr sz="1100" dirty="0"/>
          </a:p>
        </p:txBody>
      </p:sp>
      <p:sp>
        <p:nvSpPr>
          <p:cNvPr id="36" name="Rounded Rectangle 35"/>
          <p:cNvSpPr/>
          <p:nvPr/>
        </p:nvSpPr>
        <p:spPr>
          <a:xfrm>
            <a:off x="4562856" y="4197096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62856" y="4306824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Streamlit</a:t>
            </a:r>
            <a:endParaRPr sz="1100" dirty="0"/>
          </a:p>
        </p:txBody>
      </p:sp>
      <p:sp>
        <p:nvSpPr>
          <p:cNvPr id="38" name="Rounded Rectangle 37"/>
          <p:cNvSpPr/>
          <p:nvPr/>
        </p:nvSpPr>
        <p:spPr>
          <a:xfrm>
            <a:off x="6190488" y="4197096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90488" y="4306824"/>
            <a:ext cx="1481328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dirty="0"/>
              <a:t>Docker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62856" y="4818888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62856" y="4928616"/>
            <a:ext cx="150876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t>Git / GitHub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01583" y="1508760"/>
            <a:ext cx="3566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330183" y="1719072"/>
            <a:ext cx="347472" cy="34747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30183" y="1783080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14815" y="1737360"/>
            <a:ext cx="25968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rPr dirty="0"/>
              <a:t>Expected Outcome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75904" y="2295144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77072" y="2221991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An agentic system that understands a disrupted project state.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75904" y="3008376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77072" y="2935224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Generates and evaluates alternative recovery plans.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75904" y="3721608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77072" y="3648456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Recommends the best feasible recovery strategy.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75904" y="4434840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77072" y="4361688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Explains why the selected plan is preferred.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8368" y="8686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500" b="1">
                <a:solidFill>
                  <a:srgbClr val="192B43"/>
                </a:solidFill>
                <a:latin typeface="Aptos Display"/>
              </a:defRPr>
            </a:pPr>
            <a:r>
              <a:t>Explainable RAG for Enterprise Policy Change Impact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1">
                <a:solidFill>
                  <a:srgbClr val="6F7E8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3794760" cy="4343400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30632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Problem</a:t>
            </a:r>
            <a:r>
              <a:rPr lang="en-GB" dirty="0"/>
              <a:t> Statement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306324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Enterprise policies change over time and often contain references, dependencies and requirements that span multiple documents.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11980"/>
            <a:ext cx="30632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50" b="0">
                <a:solidFill>
                  <a:srgbClr val="DAEFEE"/>
                </a:solidFill>
                <a:latin typeface="Aptos"/>
              </a:defRPr>
            </a:pPr>
            <a:r>
              <a:rPr sz="1400" dirty="0"/>
              <a:t>Traditional document search may retrieve information but does not clearly trace changes and their impact across related policies.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64208"/>
            <a:ext cx="2560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>
                <a:solidFill>
                  <a:srgbClr val="20898B"/>
                </a:solidFill>
                <a:latin typeface="Aptos"/>
              </a:defRPr>
            </a:pPr>
            <a:r>
              <a:rPr sz="1600" dirty="0"/>
              <a:t>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148840"/>
            <a:ext cx="475488" cy="475488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40" y="227685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20898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223308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Retrieve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233084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Find relevant policy clauses and versions using RAG.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9784" y="26700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92040" y="3063240"/>
            <a:ext cx="475488" cy="475488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319125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2089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319125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211550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Detect and compare changes between policy versions.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9784" y="35844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892040" y="3977639"/>
            <a:ext cx="475488" cy="475488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4105655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2089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410565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Connect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8469" y="4108659"/>
            <a:ext cx="4572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Represent relationships between policies, clauses and requirements.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9784" y="44988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892040" y="4892040"/>
            <a:ext cx="475488" cy="475488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2040" y="5020055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2089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500956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5024013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Provide evidence-grounded, traceable impact explanations.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8368" y="8686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500" b="1">
                <a:solidFill>
                  <a:srgbClr val="192B43"/>
                </a:solidFill>
                <a:latin typeface="Aptos Display"/>
              </a:defRPr>
            </a:pPr>
            <a:r>
              <a:t>Dataset • Technology • Expected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1">
                <a:solidFill>
                  <a:srgbClr val="6F7E8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50876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8952" y="1719072"/>
            <a:ext cx="347472" cy="34747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783080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1737360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" y="2295144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221991"/>
            <a:ext cx="2898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Public regulatory / policy document corpus such as </a:t>
            </a:r>
            <a:r>
              <a:rPr sz="1400" dirty="0" err="1"/>
              <a:t>ObliQA</a:t>
            </a:r>
            <a:r>
              <a:rPr sz="1400"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" y="3008376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2898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lang="en-GB" sz="1400" dirty="0"/>
              <a:t>Policy documents and clauses form the RAG knowledge 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" y="3721608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648456"/>
            <a:ext cx="2898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Metadata: policy ID, version, date and domain.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" y="4434840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361688"/>
            <a:ext cx="289864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Structured annotations for policy changes and inter-policy relationships.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50876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62856" y="1719072"/>
            <a:ext cx="347472" cy="34747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62856" y="1810512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62856" y="2331720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62856" y="2441448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Python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2331720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0488" y="2377327"/>
            <a:ext cx="148132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LangChain</a:t>
            </a:r>
            <a:r>
              <a:rPr sz="1100" dirty="0"/>
              <a:t> / </a:t>
            </a:r>
            <a:r>
              <a:rPr sz="1100" dirty="0" err="1"/>
              <a:t>LlamaIndex</a:t>
            </a:r>
            <a:endParaRPr sz="1100" dirty="0"/>
          </a:p>
        </p:txBody>
      </p:sp>
      <p:sp>
        <p:nvSpPr>
          <p:cNvPr id="28" name="Rounded Rectangle 27"/>
          <p:cNvSpPr/>
          <p:nvPr/>
        </p:nvSpPr>
        <p:spPr>
          <a:xfrm>
            <a:off x="4562856" y="2953512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62856" y="3063240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lang="en-GB" sz="1100" dirty="0"/>
              <a:t>Sentence Transformers</a:t>
            </a:r>
            <a:endParaRPr sz="1100" dirty="0"/>
          </a:p>
        </p:txBody>
      </p:sp>
      <p:sp>
        <p:nvSpPr>
          <p:cNvPr id="30" name="Rounded Rectangle 29"/>
          <p:cNvSpPr/>
          <p:nvPr/>
        </p:nvSpPr>
        <p:spPr>
          <a:xfrm>
            <a:off x="6190488" y="2953512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0488" y="3063240"/>
            <a:ext cx="14813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FAISS / </a:t>
            </a:r>
            <a:r>
              <a:rPr sz="1100" dirty="0" err="1"/>
              <a:t>ChromaDB</a:t>
            </a:r>
            <a:endParaRPr sz="1100" dirty="0"/>
          </a:p>
        </p:txBody>
      </p:sp>
      <p:sp>
        <p:nvSpPr>
          <p:cNvPr id="32" name="Rounded Rectangle 31"/>
          <p:cNvSpPr/>
          <p:nvPr/>
        </p:nvSpPr>
        <p:spPr>
          <a:xfrm>
            <a:off x="4562856" y="3575304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62856" y="3685032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NetworkX</a:t>
            </a:r>
            <a:endParaRPr sz="1100" dirty="0"/>
          </a:p>
        </p:txBody>
      </p:sp>
      <p:sp>
        <p:nvSpPr>
          <p:cNvPr id="34" name="Rounded Rectangle 33"/>
          <p:cNvSpPr/>
          <p:nvPr/>
        </p:nvSpPr>
        <p:spPr>
          <a:xfrm>
            <a:off x="6190488" y="3575304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90488" y="3685032"/>
            <a:ext cx="14813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LLM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62856" y="4197096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62856" y="4306824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Streamlit</a:t>
            </a:r>
            <a:endParaRPr sz="1100" dirty="0"/>
          </a:p>
        </p:txBody>
      </p:sp>
      <p:sp>
        <p:nvSpPr>
          <p:cNvPr id="38" name="Rounded Rectangle 37"/>
          <p:cNvSpPr/>
          <p:nvPr/>
        </p:nvSpPr>
        <p:spPr>
          <a:xfrm>
            <a:off x="6190488" y="4197096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90488" y="4306824"/>
            <a:ext cx="14813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FastAPI</a:t>
            </a:r>
            <a:endParaRPr sz="1100" dirty="0"/>
          </a:p>
        </p:txBody>
      </p:sp>
      <p:sp>
        <p:nvSpPr>
          <p:cNvPr id="40" name="Rounded Rectangle 39"/>
          <p:cNvSpPr/>
          <p:nvPr/>
        </p:nvSpPr>
        <p:spPr>
          <a:xfrm>
            <a:off x="4562856" y="4818888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62856" y="4928616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Docker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0488" y="4818888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90488" y="4928616"/>
            <a:ext cx="14813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Git / GitHub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01583" y="1508760"/>
            <a:ext cx="3566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330183" y="1719072"/>
            <a:ext cx="347472" cy="34747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30183" y="1783080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14815" y="1737360"/>
            <a:ext cx="25968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t>Expected Outcome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75904" y="2295144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77072" y="2221991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 err="1"/>
              <a:t>PolicyGraph</a:t>
            </a:r>
            <a:r>
              <a:rPr sz="1400" dirty="0"/>
              <a:t>-based explainable RAG system.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75904" y="3008376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77072" y="2935224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Identifies policy changes and related or affected policies.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75904" y="3721608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77072" y="3648456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Retrieves supporting evidence for each conclusion.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75904" y="4434840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77072" y="4361688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Generates clear, traceable impact explanations.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413</Words>
  <Application>Microsoft Office PowerPoint</Application>
  <PresentationFormat>Widescreen</PresentationFormat>
  <Paragraphs>94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Nandana Jayan</dc:creator>
  <cp:keywords/>
  <dc:description>generated using python-pptx</dc:description>
  <cp:lastModifiedBy>Nandana Jayan</cp:lastModifiedBy>
  <cp:revision>5</cp:revision>
  <dcterms:created xsi:type="dcterms:W3CDTF">2013-01-27T09:14:16Z</dcterms:created>
  <dcterms:modified xsi:type="dcterms:W3CDTF">2026-08-28T04:42:00Z</dcterms:modified>
  <cp:category/>
</cp:coreProperties>
</file>