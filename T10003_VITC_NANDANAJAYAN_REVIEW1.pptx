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287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rPr sz="3600" dirty="0">
                <a:solidFill>
                  <a:schemeClr val="bg1"/>
                </a:solidFill>
              </a:rPr>
              <a:t>Agentic AI-Based Construction Schedule Disruption Analysis and Recovery Planning System</a:t>
            </a:r>
          </a:p>
          <a:p>
            <a:pPr algn="ctr">
              <a:defRPr sz="2200">
                <a:latin typeface="Calibri"/>
              </a:defRPr>
            </a:pPr>
            <a:endParaRPr lang="en-IN" dirty="0"/>
          </a:p>
          <a:p>
            <a:pPr algn="ctr">
              <a:defRPr sz="2200">
                <a:latin typeface="Calibri"/>
              </a:defRPr>
            </a:pPr>
            <a:endParaRPr lang="en-IN" dirty="0"/>
          </a:p>
          <a:p>
            <a:pPr algn="ctr">
              <a:defRPr sz="2200">
                <a:latin typeface="Calibri"/>
              </a:defRPr>
            </a:pPr>
            <a:r>
              <a:rPr sz="2400" b="1" dirty="0">
                <a:solidFill>
                  <a:schemeClr val="bg1"/>
                </a:solidFill>
              </a:rPr>
              <a:t>Nandana Jayan</a:t>
            </a:r>
            <a:endParaRPr lang="en-GB" sz="2400" b="1" dirty="0">
              <a:solidFill>
                <a:schemeClr val="bg1"/>
              </a:solidFill>
            </a:endParaRPr>
          </a:p>
          <a:p>
            <a:pPr algn="ctr">
              <a:defRPr sz="2200">
                <a:latin typeface="Calibri"/>
              </a:defRPr>
            </a:pPr>
            <a:r>
              <a:rPr lang="en-IN" sz="2400" b="1" dirty="0">
                <a:solidFill>
                  <a:schemeClr val="bg1"/>
                </a:solidFill>
              </a:rPr>
              <a:t>25MML1016</a:t>
            </a:r>
            <a:endParaRPr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4EC76F-C584-9968-7857-65B7E1EAE7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5886467"/>
            <a:ext cx="2098623" cy="83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Analyzes construction schedule disruptions such as activity delays and resource shortages.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Identifies affected activities and determines their impact on the overall project completion.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Generates and optimizes recovery strategies using Agentic AI and OR-Tools.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Recommends the best recovery plan and provides an understandable explanation using an LLM.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792133" y="57036"/>
            <a:ext cx="739986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Agentic AI-Based Construction Schedule Disruption Analysis and Recovery Planning System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Detect and analyze the impact of construction schedule disruptions on project activities.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Identify affected activities and dependencies to determine potential project delays.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Generate and optimize recovery strategies considering time, resources, and scheduling constraints.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Recommend the most suitable recovery plan with an explainable, evidence-based justification.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902201" y="57036"/>
            <a:ext cx="7289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Agentic AI-Based Construction Schedule Disruption Analysis and Recovery Planning System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Covers construction project schedule analysis using activities, durations, dependencies, and resource constraints.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Handles disruptions such as activity delays and resource shortages and identifies their impact on downstream activities.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Generates and evaluates alternative recovery strategies using constraint-based optimization.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Provides an explainable recovery recommendation through an Agentic AI workflow and LLM-based explanation.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504267" y="57036"/>
            <a:ext cx="76877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Agentic AI-Based Construction Schedule Disruption Analysis and Recovery Planning System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lvl="0"/>
            <a:r>
              <a:rPr lang="en-IN" sz="2400" dirty="0"/>
              <a:t> Mathematical programming and constraint programming are used to create schedules that satisfy resource and dependency constraints. </a:t>
            </a:r>
          </a:p>
          <a:p>
            <a:pPr lvl="0"/>
            <a:r>
              <a:rPr lang="en-IN" sz="2400" dirty="0"/>
              <a:t>Genetic Algorithms, Tabu Search, and other heuristics are used to find good schedules faster, especially for large projects. </a:t>
            </a:r>
          </a:p>
          <a:p>
            <a:pPr lvl="0"/>
            <a:r>
              <a:rPr lang="en-IN" sz="2400" dirty="0"/>
              <a:t>These methods update the schedule when disruptions such as delays or resource problems occur. </a:t>
            </a:r>
          </a:p>
          <a:p>
            <a:pPr lvl="0"/>
            <a:r>
              <a:rPr lang="en-IN" sz="2400" dirty="0"/>
              <a:t>Existing methods mainly focus on schedule optimization or rescheduling separately. They have limited support for understanding disruption reports, </a:t>
            </a:r>
            <a:r>
              <a:rPr lang="en-IN" sz="2400" dirty="0" err="1"/>
              <a:t>analyzing</a:t>
            </a:r>
            <a:r>
              <a:rPr lang="en-IN" sz="2400" dirty="0"/>
              <a:t> their impact, generating recovery options, and explaining the recommended plan.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4741333" y="57036"/>
            <a:ext cx="745066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Agentic AI-Based Construction Schedule Disruption Analysis and Recovery Planning System</a:t>
            </a:r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lvl="0"/>
            <a:r>
              <a:rPr lang="en-IN" sz="2400" dirty="0"/>
              <a:t>Existing research provides strong methods for project scheduling and reactive rescheduling, but these are primarily focused on solving the scheduling problem mathematically. </a:t>
            </a:r>
          </a:p>
          <a:p>
            <a:pPr lvl="0"/>
            <a:r>
              <a:rPr lang="en-IN" sz="2400" dirty="0"/>
              <a:t>There is a need for a unified decision-support system that connects disruption identification, impact assessment, recovery planning, and schedule optimization. </a:t>
            </a:r>
          </a:p>
          <a:p>
            <a:pPr lvl="0"/>
            <a:r>
              <a:rPr lang="en-IN" sz="2400" dirty="0"/>
              <a:t>Our system combines LLM-based disruption interpretation with dependency-based impact analysis and constraint-based schedule optimization. </a:t>
            </a:r>
          </a:p>
          <a:p>
            <a:pPr lvl="0"/>
            <a:r>
              <a:rPr lang="en-IN" sz="2400" dirty="0"/>
              <a:t>An agentic and explainable workflow using </a:t>
            </a:r>
            <a:r>
              <a:rPr lang="en-IN" sz="2400" dirty="0" err="1"/>
              <a:t>LangGraph</a:t>
            </a:r>
            <a:r>
              <a:rPr lang="en-IN" sz="2400" dirty="0"/>
              <a:t> and OR-Tools that transforms a user's disruption report into feasible recovery alternatives and an optimized, explainable recovery plan.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200">
                <a:latin typeface="Calibri"/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4893734" y="0"/>
            <a:ext cx="730037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Agentic AI-Based Construction Schedule Disruption Analysis and Recovery Planning System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Dataset &amp; Scenarios :</a:t>
            </a:r>
            <a:r>
              <a:rPr lang="en-IN" sz="2200" dirty="0">
                <a:latin typeface="Calibri"/>
              </a:rPr>
              <a:t>   PSPLIB J30 (480 instances) provides activities, durations, dependencies, and resource constraints. It is used to generate baseline schedules, which serve as the reference for disruption and recovery analysis.</a:t>
            </a:r>
            <a:endParaRPr dirty="0"/>
          </a:p>
          <a:p>
            <a:pPr>
              <a:lnSpc>
                <a:spcPct val="150000"/>
              </a:lnSpc>
              <a:spcAft>
                <a:spcPts val="1000"/>
              </a:spcAft>
              <a:defRPr sz="2200">
                <a:latin typeface="Calibri"/>
              </a:defRPr>
            </a:pPr>
            <a:r>
              <a:rPr lang="en-IN" sz="2200" dirty="0">
                <a:latin typeface="Calibri"/>
              </a:rPr>
              <a:t>Project Flow : User Input → Disruption Handling → Impact Analysis → Recovery Strategy Generation → Schedule Optimization → Results &amp; Explanation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lang="en-IN" sz="2200" dirty="0">
                <a:latin typeface="Calibri"/>
              </a:rPr>
              <a:t>Target Users &amp; Domain  :  Project Managers, Construction Planners, and Scheduling Engineers in the Construction Project Management domain, supporting schedule monitoring and recovery decision-making.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lang="en-IN" sz="2200" dirty="0">
                <a:latin typeface="Calibri"/>
              </a:rPr>
              <a:t>Core Technologies  :  React – UI | Python + FastAPI – Backend | LangGraph + LLM – Agentic workflow &amp; disruption understanding | OR-Tools – Schedule optimization | PostgreSQL – Data storage.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512039" y="57036"/>
            <a:ext cx="767996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/>
              <a:t>Agentic AI-Based Construction Schedule Disruption Analysis and Recovery Planning System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lvl="0"/>
            <a:r>
              <a:rPr lang="en-IN" sz="2250" dirty="0"/>
              <a:t>Project &amp; Schedule Management </a:t>
            </a:r>
          </a:p>
          <a:p>
            <a:pPr lvl="1"/>
            <a:r>
              <a:rPr lang="en-IN" sz="2250" dirty="0"/>
              <a:t>Load project data and baseline schedule </a:t>
            </a:r>
          </a:p>
          <a:p>
            <a:pPr lvl="1"/>
            <a:r>
              <a:rPr lang="en-IN" sz="2250" dirty="0"/>
              <a:t>Manage activities, durations, dependencies and resources </a:t>
            </a:r>
          </a:p>
          <a:p>
            <a:pPr lvl="0"/>
            <a:r>
              <a:rPr lang="en-IN" sz="2250" dirty="0"/>
              <a:t>Disruption Handler </a:t>
            </a:r>
          </a:p>
          <a:p>
            <a:pPr lvl="1"/>
            <a:r>
              <a:rPr lang="en-IN" sz="2250" dirty="0"/>
              <a:t>Capture disruption details </a:t>
            </a:r>
          </a:p>
          <a:p>
            <a:pPr lvl="1"/>
            <a:r>
              <a:rPr lang="en-IN" sz="2250" dirty="0"/>
              <a:t>Interpret delay, resource issues and other schedule changes </a:t>
            </a:r>
          </a:p>
          <a:p>
            <a:pPr lvl="0"/>
            <a:r>
              <a:rPr lang="en-IN" sz="2250" dirty="0"/>
              <a:t>Impact Analyzer </a:t>
            </a:r>
          </a:p>
          <a:p>
            <a:pPr lvl="1"/>
            <a:r>
              <a:rPr lang="en-IN" sz="2250" dirty="0"/>
              <a:t>Identify the affected activity </a:t>
            </a:r>
          </a:p>
          <a:p>
            <a:pPr lvl="1"/>
            <a:r>
              <a:rPr lang="en-IN" sz="2250" dirty="0"/>
              <a:t>Trace dependent/downstream activities </a:t>
            </a:r>
          </a:p>
          <a:p>
            <a:pPr lvl="1"/>
            <a:r>
              <a:rPr lang="en-IN" sz="2250" dirty="0"/>
              <a:t>Calculate the impact on the project schedule </a:t>
            </a:r>
          </a:p>
          <a:p>
            <a:pPr lvl="0"/>
            <a:r>
              <a:rPr lang="en-IN" sz="2250" dirty="0"/>
              <a:t>Recovery Strategy Generator </a:t>
            </a:r>
          </a:p>
          <a:p>
            <a:pPr lvl="1"/>
            <a:r>
              <a:rPr lang="en-IN" sz="2250" dirty="0"/>
              <a:t>Generate possible recovery options </a:t>
            </a:r>
          </a:p>
          <a:p>
            <a:pPr lvl="1"/>
            <a:r>
              <a:rPr lang="en-IN" sz="2250" dirty="0"/>
              <a:t>Consider resource availability, dependencies and project constraints</a:t>
            </a:r>
          </a:p>
          <a:p>
            <a:pPr marL="457200" indent="-4572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 sz="2500" b="1">
                <a:latin typeface="Calibri"/>
              </a:defRPr>
            </a:pPr>
            <a:endParaRPr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4706911" y="57036"/>
            <a:ext cx="74850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/>
              <a:t>Agentic AI-Based Construction Schedule Disruption Analysis and Recovery Planning System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 lvl="0"/>
            <a:r>
              <a:rPr lang="en-IN" sz="2250" dirty="0"/>
              <a:t>Schedule Optimizer </a:t>
            </a:r>
          </a:p>
          <a:p>
            <a:pPr lvl="1"/>
            <a:r>
              <a:rPr lang="en-IN" sz="2250" dirty="0"/>
              <a:t>Use OR-Tools to create feasible recovery schedules </a:t>
            </a:r>
          </a:p>
          <a:p>
            <a:pPr lvl="1"/>
            <a:r>
              <a:rPr lang="en-IN" sz="2250" dirty="0"/>
              <a:t>Handle resource and dependency constraints </a:t>
            </a:r>
          </a:p>
          <a:p>
            <a:pPr lvl="0"/>
            <a:r>
              <a:rPr lang="en-IN" sz="2250" dirty="0"/>
              <a:t>Plan Evaluator </a:t>
            </a:r>
          </a:p>
          <a:p>
            <a:pPr lvl="1"/>
            <a:r>
              <a:rPr lang="en-IN" sz="2250" dirty="0"/>
              <a:t>Compare different recovery plans </a:t>
            </a:r>
          </a:p>
          <a:p>
            <a:pPr lvl="1"/>
            <a:r>
              <a:rPr lang="en-IN" sz="2250" dirty="0"/>
              <a:t>Evaluate </a:t>
            </a:r>
            <a:r>
              <a:rPr lang="en-IN" sz="2250" dirty="0" err="1"/>
              <a:t>makespan</a:t>
            </a:r>
            <a:r>
              <a:rPr lang="en-IN" sz="2250" dirty="0"/>
              <a:t>, delays and resource usage </a:t>
            </a:r>
          </a:p>
          <a:p>
            <a:pPr lvl="0"/>
            <a:r>
              <a:rPr lang="en-IN" sz="2250" dirty="0"/>
              <a:t>Recommendation &amp; Explanation </a:t>
            </a:r>
          </a:p>
          <a:p>
            <a:pPr lvl="1"/>
            <a:r>
              <a:rPr lang="en-IN" sz="2250" dirty="0"/>
              <a:t>Select the best recovery plan </a:t>
            </a:r>
          </a:p>
          <a:p>
            <a:pPr lvl="1"/>
            <a:r>
              <a:rPr lang="en-IN" sz="2250" dirty="0"/>
              <a:t>Use LLM to explain why the plan was selected </a:t>
            </a:r>
          </a:p>
          <a:p>
            <a:pPr lvl="0"/>
            <a:r>
              <a:rPr lang="en-IN" sz="2250" dirty="0"/>
              <a:t>User Interface &amp; Data Management </a:t>
            </a:r>
          </a:p>
          <a:p>
            <a:pPr lvl="1"/>
            <a:r>
              <a:rPr lang="en-IN" sz="2250" dirty="0"/>
              <a:t>React dashboard for Project Manager/Admin/Employee </a:t>
            </a:r>
          </a:p>
          <a:p>
            <a:pPr lvl="1"/>
            <a:r>
              <a:rPr lang="en-IN" sz="2250" dirty="0" err="1"/>
              <a:t>FastAPI</a:t>
            </a:r>
            <a:r>
              <a:rPr lang="en-IN" sz="2250" dirty="0"/>
              <a:t> for backend communication </a:t>
            </a:r>
          </a:p>
          <a:p>
            <a:pPr lvl="1"/>
            <a:r>
              <a:rPr lang="en-IN" sz="2250" dirty="0"/>
              <a:t>PostgreSQL for storing projects, disruptions and results</a:t>
            </a:r>
          </a:p>
          <a:p>
            <a:pPr marL="0" indent="0">
              <a:spcAft>
                <a:spcPts val="400"/>
              </a:spcAft>
              <a:buNone/>
              <a:defRPr sz="2500" b="1">
                <a:latin typeface="Calibri"/>
              </a:defRPr>
            </a:pPr>
            <a:endParaRPr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000" b="1">
                <a:latin typeface="Calibri"/>
              </a:defRPr>
            </a:pPr>
            <a:r>
              <a:t>Modules to Cover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4886793" y="57036"/>
            <a:ext cx="73052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/>
              <a:t>Agentic AI-Based Construction Schedule Disruption Analysis and Recovery Planning System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252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rPr sz="3600"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  <a:p>
            <a:pPr algn="ctr">
              <a:defRPr sz="2200">
                <a:latin typeface="Calibri"/>
              </a:defRPr>
            </a:pPr>
            <a:endParaRPr lang="en-IN" dirty="0"/>
          </a:p>
          <a:p>
            <a:pPr algn="ctr">
              <a:defRPr sz="2200">
                <a:latin typeface="Calibri"/>
              </a:defRPr>
            </a:pPr>
            <a:endParaRPr lang="en-IN" dirty="0"/>
          </a:p>
          <a:p>
            <a:pPr algn="ctr">
              <a:defRPr sz="2200">
                <a:latin typeface="Calibri"/>
              </a:defRPr>
            </a:pPr>
            <a:endParaRPr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F45B0E-D21D-8F05-2040-9D3504526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33" y="5957486"/>
            <a:ext cx="2368268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Enterprise policies are frequently updated, creating changes that can affect related policies, rules, and procedures.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The proposed system automatically detects changes between policy versions and identifies potentially affected clauses and policies.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A </a:t>
            </a:r>
            <a:r>
              <a:rPr dirty="0" err="1"/>
              <a:t>PolicyGraph</a:t>
            </a:r>
            <a:r>
              <a:rPr dirty="0"/>
              <a:t> is used to trace relationships and propagate the impact of a policy change across connected documents.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RAG retrieves supporting policy evidence, while an LLM generates an evidence-grounded explanation of the identified impacts.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Detect and classify meaningful changes between different versions of enterprise policy documents.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Identify affected policies and clauses by analyzing explicit and semantic relationships between policy content.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Rank potential impacts using relevance and confidence scores supported by graph-based propagation and evidence retrieval.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Generate explainable, evidence-grounded impact analysis to support compliance, governance, and policy-management decisions.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Covers enterprise policy documents, their versions, clauses, cross-references, and related procedural content.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Supports change types such as added, removed, and modified clauses and traces their potential downstream impact.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Combines </a:t>
            </a:r>
            <a:r>
              <a:rPr dirty="0" err="1"/>
              <a:t>PolicyGraph</a:t>
            </a:r>
            <a:r>
              <a:rPr dirty="0"/>
              <a:t>-based relationship analysis with RAG-based evidence retrieval for impact assessment.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Provides ranked impact results, supporting evidence, confidence scores, and LLM-generated explanations through a web interface.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t>Traditional policy and document analysis approaches rely heavily on manual comparison and keyword-based retrieval, which can miss indirect relationships.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RAG-based methods improve document question answering by retrieving relevant evidence before generating responses, but standard RAG may not explicitly model policy relationships.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Graph-based and Graph RAG approaches represent relationships between documents or passages, improving multi-hop retrieval and cross-reference tracing.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Recent research highlights the need for explainability and reliable evidence grounding in high-stakes enterprise and regulatory applications.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Existing approaches provide strong capabilities for document retrieval, semantic search, and graph-based knowledge representation.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However, they generally focus on retrieval or question answering rather than systematic propagation of policy-version changes to affected policies.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A research gap exists in combining change detection, relationship-aware impact propagation, evidence retrieval, confidence scoring, and explainable generation in one framework.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The proposed framework addresses this gap through: Change Detection → </a:t>
            </a:r>
            <a:r>
              <a:rPr dirty="0" err="1"/>
              <a:t>PolicyGraph</a:t>
            </a:r>
            <a:r>
              <a:rPr dirty="0"/>
              <a:t> → Impact Propagation → RAG Evidence → Impact Ranking → LLM Explanation.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Dataset: </a:t>
            </a:r>
            <a:r>
              <a:rPr dirty="0" err="1"/>
              <a:t>ObliQA</a:t>
            </a:r>
            <a:r>
              <a:rPr dirty="0"/>
              <a:t> structured ADGM regulatory documents, augmented with controlled policy-version changes and impact annotations.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Core technologies: React, Python, </a:t>
            </a:r>
            <a:r>
              <a:rPr dirty="0" err="1"/>
              <a:t>FastAPI</a:t>
            </a:r>
            <a:r>
              <a:rPr dirty="0"/>
              <a:t>, </a:t>
            </a:r>
            <a:r>
              <a:rPr dirty="0" err="1"/>
              <a:t>LangChain</a:t>
            </a:r>
            <a:r>
              <a:rPr dirty="0"/>
              <a:t>, LLM, Sentence Transformers, FAISS, </a:t>
            </a:r>
            <a:r>
              <a:rPr dirty="0" err="1"/>
              <a:t>NetworkX</a:t>
            </a:r>
            <a:r>
              <a:rPr dirty="0"/>
              <a:t>, PostgreSQL, and Docker.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Evaluation can compare traditional RAG, Graph RAG, and the proposed impact-propagation approach using retrieval, impact-detection, evidence, and explanation metrics.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300">
                <a:latin typeface="Calibri"/>
              </a:defRPr>
            </a:pPr>
            <a:r>
              <a:rPr dirty="0"/>
              <a:t>Target users include compliance officers, policy analysts, risk managers, and governance teams who need traceable and explainable policy-impact insights.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457200" indent="-457200">
              <a:lnSpc>
                <a:spcPct val="105000"/>
              </a:lnSpc>
              <a:spcAft>
                <a:spcPts val="1000"/>
              </a:spcAft>
              <a:buFont typeface="+mj-lt"/>
              <a:buAutoNum type="arabicPeriod"/>
              <a:defRPr sz="2300">
                <a:latin typeface="Calibri"/>
              </a:defRPr>
            </a:pPr>
            <a:r>
              <a:rPr dirty="0"/>
              <a:t>Module 1 – Policy Data &amp; Version Management</a:t>
            </a:r>
          </a:p>
          <a:p>
            <a:pPr marL="0" indent="0">
              <a:spcAft>
                <a:spcPts val="1000"/>
              </a:spcAft>
              <a:buNone/>
              <a:defRPr sz="2300">
                <a:latin typeface="Calibri"/>
              </a:defRPr>
            </a:pPr>
            <a:r>
              <a:rPr lang="en-IN" sz="2300" dirty="0">
                <a:latin typeface="Calibri"/>
              </a:rPr>
              <a:t>       </a:t>
            </a:r>
            <a:r>
              <a:rPr lang="en-IN" sz="2300" b="0" dirty="0">
                <a:solidFill>
                  <a:schemeClr val="tx1"/>
                </a:solidFill>
                <a:latin typeface="Calibri"/>
              </a:rPr>
              <a:t>Manages policy documents, versions, clauses, and metadata for analysis.</a:t>
            </a:r>
            <a:endParaRPr b="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05000"/>
              </a:lnSpc>
              <a:spcAft>
                <a:spcPts val="1000"/>
              </a:spcAft>
              <a:buAutoNum type="arabicPeriod" startAt="2"/>
              <a:defRPr sz="2300">
                <a:latin typeface="Calibri"/>
              </a:defRPr>
            </a:pPr>
            <a:r>
              <a:rPr dirty="0"/>
              <a:t>Module 2 – Change Detection &amp; Impact Propagation</a:t>
            </a:r>
          </a:p>
          <a:p>
            <a:pPr marL="0" indent="0">
              <a:spcAft>
                <a:spcPts val="1000"/>
              </a:spcAft>
              <a:buNone/>
              <a:defRPr sz="2300">
                <a:latin typeface="Calibri"/>
              </a:defRPr>
            </a:pPr>
            <a:r>
              <a:rPr lang="en-US" dirty="0"/>
              <a:t>     </a:t>
            </a:r>
            <a:r>
              <a:rPr lang="en-IN" sz="2300" b="0" dirty="0">
                <a:solidFill>
                  <a:schemeClr val="tx1"/>
                </a:solidFill>
                <a:latin typeface="Calibri"/>
              </a:rPr>
              <a:t>Detects changes between policy versions and traces their potential impact through   related policies and clauses.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DE8DE-4574-AA4A-58FF-37A201C3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4CE304-E210-343A-FB3B-2D3B33A472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457200" indent="-457200">
              <a:lnSpc>
                <a:spcPct val="105000"/>
              </a:lnSpc>
              <a:spcAft>
                <a:spcPts val="1000"/>
              </a:spcAft>
              <a:buAutoNum type="arabicPeriod" startAt="3"/>
              <a:defRPr sz="2300">
                <a:latin typeface="Calibri"/>
              </a:defRPr>
            </a:pPr>
            <a:r>
              <a:rPr lang="en-IN" dirty="0"/>
              <a:t>Module 3 – Evidence Retrieval </a:t>
            </a:r>
          </a:p>
          <a:p>
            <a:pPr marL="0" indent="0">
              <a:spcAft>
                <a:spcPts val="1000"/>
              </a:spcAft>
              <a:buNone/>
              <a:defRPr sz="2300">
                <a:latin typeface="Calibri"/>
              </a:defRPr>
            </a:pPr>
            <a:r>
              <a:rPr lang="en-IN" dirty="0"/>
              <a:t>       </a:t>
            </a:r>
            <a:r>
              <a:rPr lang="en-IN" sz="2300" b="0" dirty="0">
                <a:solidFill>
                  <a:schemeClr val="tx1"/>
                </a:solidFill>
                <a:latin typeface="Calibri"/>
              </a:rPr>
              <a:t>Retrieves relevant policy passages and supporting evidence using semantic search and the PolicyGraph relationships.</a:t>
            </a:r>
            <a:endParaRPr lang="en-IN" b="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05000"/>
              </a:lnSpc>
              <a:spcAft>
                <a:spcPts val="1000"/>
              </a:spcAft>
              <a:buAutoNum type="arabicPeriod" startAt="4"/>
              <a:defRPr sz="2300">
                <a:latin typeface="Calibri"/>
              </a:defRPr>
            </a:pPr>
            <a:r>
              <a:rPr lang="en-IN" dirty="0"/>
              <a:t>Module 4 – Explainable RAG &amp; Recommendation</a:t>
            </a:r>
          </a:p>
          <a:p>
            <a:pPr marL="0" indent="0">
              <a:spcAft>
                <a:spcPts val="1000"/>
              </a:spcAft>
              <a:buNone/>
              <a:defRPr sz="2300">
                <a:latin typeface="Calibri"/>
              </a:defRPr>
            </a:pPr>
            <a:r>
              <a:rPr lang="en-IN" dirty="0"/>
              <a:t>       </a:t>
            </a:r>
            <a:r>
              <a:rPr lang="en-IN" sz="2300" b="0" dirty="0">
                <a:solidFill>
                  <a:schemeClr val="tx1"/>
                </a:solidFill>
                <a:latin typeface="Calibri"/>
              </a:rPr>
              <a:t>Uses retrieved evidence and an LLM to generate clear, evidence-grounded explanations and recommendations.</a:t>
            </a:r>
            <a:endParaRPr lang="en-IN" b="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05000"/>
              </a:lnSpc>
              <a:spcAft>
                <a:spcPts val="1000"/>
              </a:spcAft>
              <a:buFont typeface="+mj-lt"/>
              <a:buAutoNum type="arabicPeriod"/>
              <a:defRPr sz="2300">
                <a:latin typeface="Calibri"/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5EF28-921F-010D-08FC-7E9C806164B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BCFF67-3ADD-7E1D-0E20-74EADA724DE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71DC5FE-7FDB-BBBA-1003-0013B85C07E5}"/>
              </a:ext>
            </a:extLst>
          </p:cNvPr>
          <p:cNvSpPr txBox="1"/>
          <p:nvPr/>
        </p:nvSpPr>
        <p:spPr>
          <a:xfrm>
            <a:off x="6093893" y="57036"/>
            <a:ext cx="60981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An Explainable RAG Framework for Enterprise Policy Change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32426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1400</Words>
  <Application>Microsoft Office PowerPoint</Application>
  <PresentationFormat>Widescreen</PresentationFormat>
  <Paragraphs>139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Nandana Jayan</cp:lastModifiedBy>
  <cp:revision>14</cp:revision>
  <dcterms:created xsi:type="dcterms:W3CDTF">2024-05-13T10:33:11Z</dcterms:created>
  <dcterms:modified xsi:type="dcterms:W3CDTF">2026-09-11T04:00:05Z</dcterms:modified>
</cp:coreProperties>
</file>